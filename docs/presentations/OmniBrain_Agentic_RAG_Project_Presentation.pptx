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Axlero Solutions Project 1 brief; local OmniBrain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Axlero Solutions Project 1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project brief; local repository files backend/app/agents/graph.py, routing.py, sql_agent.py, services/rag_service.py.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audit: docs/midproject_reasoning_audit.md; backend/tests/test_routing_audit.py.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implementation: backend/app/services/market_data_service.py and backend/app/agents/sql_agent.py.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implementation: backend/app/services/guardrail_service.py and backend/app/services/rag_service.py.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PowerShell screenshot; local test file backend/tests/test_self_rag_guardrails.py.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SETUP.md and docker-compose.yaml.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project brief; local project report. Future modules are labelled as roadmap, not completed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project brief; local project report and audit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rand">
            <a:extLst>
              <a:ext uri="{FF2B5EF4-FFF2-40B4-BE49-F238E27FC236}">
                <a16:creationId xmlns:a16="http://schemas.microsoft.com/office/drawing/2014/main" id="{9DCA77D5-EDA4-43D1-9E98-7BAE5F1A7A1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E7490"/>
                </a:solidFill>
              </a:defRPr>
            </a:pPr>
            <a:r>
              <a:rPr sz="1125" b="1">
                <a:solidFill>
                  <a:srgbClr val="0E7490"/>
                </a:solidFill>
              </a:rPr>
              <a:t>AXLERO SOLUTIONS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8E732E6A-28DA-4546-8C40-62E815FE48F7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800" b="1">
                <a:solidFill>
                  <a:srgbClr val="10213F"/>
                </a:solidFill>
              </a:defRPr>
            </a:pPr>
            <a:r>
              <a:rPr sz="4800" b="1">
                <a:solidFill>
                  <a:srgbClr val="10213F"/>
                </a:solidFill>
              </a:rPr>
              <a:t>OmniBrain</a:t>
            </a:r>
          </a:p>
        </p:txBody>
      </p:sp>
      <p:sp>
        <p:nvSpPr>
          <p:cNvPr id="3" name="cover-sub">
            <a:extLst>
              <a:ext uri="{FF2B5EF4-FFF2-40B4-BE49-F238E27FC236}">
                <a16:creationId xmlns:a16="http://schemas.microsoft.com/office/drawing/2014/main" id="{7F71BD41-0E85-4F1F-856A-2CCDCC8537A7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Agentic Multi-Modal RAG Orchestrator</a:t>
            </a:r>
          </a:p>
        </p:txBody>
      </p:sp>
      <p:sp>
        <p:nvSpPr>
          <p:cNvPr id="4" name="cover-body">
            <a:extLst>
              <a:ext uri="{FF2B5EF4-FFF2-40B4-BE49-F238E27FC236}">
                <a16:creationId xmlns:a16="http://schemas.microsoft.com/office/drawing/2014/main" id="{3994C373-CC0D-474F-904D-B0C0A28A4DA6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Advanced Data Science &amp; ML Engineering</a:t>
            </a: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Project 1 | Real-World Applications</a:t>
            </a:r>
          </a:p>
        </p:txBody>
      </p:sp>
      <p:sp>
        <p:nvSpPr>
          <p:cNvPr id="5" name="submitted-by">
            <a:extLst>
              <a:ext uri="{FF2B5EF4-FFF2-40B4-BE49-F238E27FC236}">
                <a16:creationId xmlns:a16="http://schemas.microsoft.com/office/drawing/2014/main" id="{128B3B78-5E07-4C89-B06B-6C31FF2581D9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 dirty="0">
                <a:solidFill>
                  <a:srgbClr val="10213F"/>
                </a:solidFill>
              </a:rPr>
              <a:t>Submitted by: </a:t>
            </a:r>
            <a:endParaRPr lang="en-GB" sz="1350" b="1" dirty="0" smtClean="0">
              <a:solidFill>
                <a:srgbClr val="10213F"/>
              </a:solidFill>
            </a:endParaRPr>
          </a:p>
          <a:p>
            <a:pPr algn="l">
              <a:defRPr sz="1350" b="1">
                <a:solidFill>
                  <a:srgbClr val="10213F"/>
                </a:solidFill>
              </a:defRPr>
            </a:pPr>
            <a:r>
              <a:rPr lang="en-GB" sz="1350" b="1" dirty="0" err="1" smtClean="0">
                <a:solidFill>
                  <a:srgbClr val="10213F"/>
                </a:solidFill>
              </a:rPr>
              <a:t>Laukik</a:t>
            </a:r>
            <a:r>
              <a:rPr lang="en-GB" sz="1350" b="1" dirty="0" smtClean="0">
                <a:solidFill>
                  <a:srgbClr val="10213F"/>
                </a:solidFill>
              </a:rPr>
              <a:t> </a:t>
            </a:r>
            <a:r>
              <a:rPr lang="en-GB" sz="1350" b="1" dirty="0" err="1" smtClean="0">
                <a:solidFill>
                  <a:srgbClr val="10213F"/>
                </a:solidFill>
              </a:rPr>
              <a:t>Suryavanshi</a:t>
            </a:r>
            <a:endParaRPr lang="en-GB" sz="1350" b="1" dirty="0" smtClean="0">
              <a:solidFill>
                <a:srgbClr val="10213F"/>
              </a:solidFill>
            </a:endParaRPr>
          </a:p>
          <a:p>
            <a:pPr algn="l">
              <a:defRPr sz="1350" b="1">
                <a:solidFill>
                  <a:srgbClr val="10213F"/>
                </a:solidFill>
              </a:defRPr>
            </a:pPr>
            <a:r>
              <a:rPr lang="en-GB" sz="1350" b="1" dirty="0" err="1" smtClean="0">
                <a:solidFill>
                  <a:srgbClr val="10213F"/>
                </a:solidFill>
              </a:rPr>
              <a:t>Rakhi</a:t>
            </a:r>
            <a:r>
              <a:rPr lang="en-GB" sz="1350" b="1" dirty="0" smtClean="0">
                <a:solidFill>
                  <a:srgbClr val="10213F"/>
                </a:solidFill>
              </a:rPr>
              <a:t> </a:t>
            </a:r>
            <a:r>
              <a:rPr lang="en-GB" sz="1350" b="1" dirty="0" err="1" smtClean="0">
                <a:solidFill>
                  <a:srgbClr val="10213F"/>
                </a:solidFill>
              </a:rPr>
              <a:t>Gahrwal</a:t>
            </a:r>
            <a:endParaRPr lang="en-GB" sz="1350" b="1" dirty="0" smtClean="0">
              <a:solidFill>
                <a:srgbClr val="10213F"/>
              </a:solidFill>
            </a:endParaRPr>
          </a:p>
          <a:p>
            <a:pPr algn="l">
              <a:defRPr sz="1350" b="1">
                <a:solidFill>
                  <a:srgbClr val="10213F"/>
                </a:solidFill>
              </a:defRPr>
            </a:pPr>
            <a:r>
              <a:rPr lang="en-GB" sz="1350" b="1" dirty="0" err="1" smtClean="0">
                <a:solidFill>
                  <a:srgbClr val="10213F"/>
                </a:solidFill>
              </a:rPr>
              <a:t>Nishant</a:t>
            </a:r>
            <a:r>
              <a:rPr lang="en-GB" sz="1350" b="1" dirty="0" smtClean="0">
                <a:solidFill>
                  <a:srgbClr val="10213F"/>
                </a:solidFill>
              </a:rPr>
              <a:t> </a:t>
            </a:r>
            <a:r>
              <a:rPr lang="en-GB" sz="1350" b="1" dirty="0" err="1" smtClean="0">
                <a:solidFill>
                  <a:srgbClr val="10213F"/>
                </a:solidFill>
              </a:rPr>
              <a:t>Saurav</a:t>
            </a:r>
            <a:endParaRPr lang="en-GB" sz="1350" b="1" dirty="0" smtClean="0">
              <a:solidFill>
                <a:srgbClr val="10213F"/>
              </a:solidFill>
            </a:endParaRPr>
          </a:p>
          <a:p>
            <a:pPr algn="l">
              <a:defRPr sz="1350" b="1">
                <a:solidFill>
                  <a:srgbClr val="10213F"/>
                </a:solidFill>
              </a:defRPr>
            </a:pPr>
            <a:r>
              <a:rPr lang="en-GB" sz="1350" b="1" dirty="0" smtClean="0">
                <a:solidFill>
                  <a:srgbClr val="10213F"/>
                </a:solidFill>
              </a:rPr>
              <a:t>Swapnil Kalita</a:t>
            </a:r>
          </a:p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 dirty="0" err="1" smtClean="0">
                <a:solidFill>
                  <a:srgbClr val="10213F"/>
                </a:solidFill>
              </a:rPr>
              <a:t>Rudraksh</a:t>
            </a:r>
            <a:r>
              <a:rPr sz="1350" b="1" dirty="0" smtClean="0">
                <a:solidFill>
                  <a:srgbClr val="10213F"/>
                </a:solidFill>
              </a:rPr>
              <a:t> </a:t>
            </a:r>
            <a:r>
              <a:rPr sz="1350" b="1" dirty="0">
                <a:solidFill>
                  <a:srgbClr val="10213F"/>
                </a:solidFill>
              </a:rPr>
              <a:t>Pandey</a:t>
            </a:r>
          </a:p>
        </p:txBody>
      </p:sp>
      <p:sp>
        <p:nvSpPr>
          <p:cNvPr id="6" name="cover-field">
            <a:extLst>
              <a:ext uri="{FF2B5EF4-FFF2-40B4-BE49-F238E27FC236}">
                <a16:creationId xmlns:a16="http://schemas.microsoft.com/office/drawing/2014/main" id="{646DDD91-28AA-4D9C-B386-E1A342D11EAC}"/>
              </a:ext>
            </a:extLst>
          </p:cNvPr>
          <p:cNvSpPr>
            <a:spLocks noGrp="1"/>
          </p:cNvSpPr>
          <p:nvPr/>
        </p:nvSpPr>
        <p:spPr>
          <a:xfrm>
            <a:off x="7829550" y="876300"/>
            <a:ext cx="2857500" cy="4333875"/>
          </a:xfrm>
          <a:prstGeom prst="roundRect">
            <a:avLst>
              <a:gd name="adj" fmla="val 5333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7" name="field-a">
            <a:extLst>
              <a:ext uri="{FF2B5EF4-FFF2-40B4-BE49-F238E27FC236}">
                <a16:creationId xmlns:a16="http://schemas.microsoft.com/office/drawing/2014/main" id="{AD7C5289-08C3-4B48-8C91-25166241840D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E7490"/>
                </a:solidFill>
              </a:defRPr>
            </a:pPr>
            <a:r>
              <a:rPr sz="1350" b="1">
                <a:solidFill>
                  <a:srgbClr val="0E7490"/>
                </a:solidFill>
              </a:rPr>
              <a:t>EVIDENCE</a:t>
            </a:r>
          </a:p>
        </p:txBody>
      </p:sp>
      <p:sp>
        <p:nvSpPr>
          <p:cNvPr id="8" name="field-b">
            <a:extLst>
              <a:ext uri="{FF2B5EF4-FFF2-40B4-BE49-F238E27FC236}">
                <a16:creationId xmlns:a16="http://schemas.microsoft.com/office/drawing/2014/main" id="{EDF54D1B-4796-4F77-AF6D-A10E90B29D28}"/>
              </a:ext>
            </a:extLst>
          </p:cNvPr>
          <p:cNvSpPr>
            <a:spLocks noGrp="1"/>
          </p:cNvSpPr>
          <p:nvPr/>
        </p:nvSpPr>
        <p:spPr>
          <a:xfrm>
            <a:off x="8191500" y="2552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ROUTING</a:t>
            </a:r>
          </a:p>
        </p:txBody>
      </p:sp>
      <p:sp>
        <p:nvSpPr>
          <p:cNvPr id="9" name="field-c">
            <a:extLst>
              <a:ext uri="{FF2B5EF4-FFF2-40B4-BE49-F238E27FC236}">
                <a16:creationId xmlns:a16="http://schemas.microsoft.com/office/drawing/2014/main" id="{8AE12BE7-5107-445F-8538-FC7DD6BEA93D}"/>
              </a:ext>
            </a:extLst>
          </p:cNvPr>
          <p:cNvSpPr>
            <a:spLocks noGrp="1"/>
          </p:cNvSpPr>
          <p:nvPr/>
        </p:nvSpPr>
        <p:spPr>
          <a:xfrm>
            <a:off x="8048625" y="35814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GUARDRAILS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72210A1-FF90-4E5D-BE9B-5421AA36A839}"/>
              </a:ext>
            </a:extLst>
          </p:cNvPr>
          <p:cNvSpPr>
            <a:spLocks noGrp="1"/>
          </p:cNvSpPr>
          <p:nvPr/>
        </p:nvSpPr>
        <p:spPr>
          <a:xfrm>
            <a:off x="9258300" y="1952625"/>
            <a:ext cx="0" cy="428625"/>
          </a:xfrm>
          <a:prstGeom prst="line">
            <a:avLst/>
          </a:prstGeom>
          <a:ln w="28575">
            <a:solidFill>
              <a:srgbClr val="6DCBF4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C2643C7-E973-4228-8525-B1F0769E57A6}"/>
              </a:ext>
            </a:extLst>
          </p:cNvPr>
          <p:cNvSpPr>
            <a:spLocks noGrp="1"/>
          </p:cNvSpPr>
          <p:nvPr/>
        </p:nvSpPr>
        <p:spPr>
          <a:xfrm>
            <a:off x="9258300" y="2981325"/>
            <a:ext cx="0" cy="428625"/>
          </a:xfrm>
          <a:prstGeom prst="line">
            <a:avLst/>
          </a:prstGeom>
          <a:ln w="28575">
            <a:solidFill>
              <a:srgbClr val="6DCBF4"/>
            </a:solidFill>
            <a:prstDash val="solid"/>
          </a:ln>
        </p:spPr>
      </p:sp>
      <p:sp>
        <p:nvSpPr>
          <p:cNvPr id="12" name="cover-foot">
            <a:extLst>
              <a:ext uri="{FF2B5EF4-FFF2-40B4-BE49-F238E27FC236}">
                <a16:creationId xmlns:a16="http://schemas.microsoft.com/office/drawing/2014/main" id="{A918AC1B-7A35-4F02-ADF5-8981351D316E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Project review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275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>
            <a:extLst>
              <a:ext uri="{FF2B5EF4-FFF2-40B4-BE49-F238E27FC236}">
                <a16:creationId xmlns:a16="http://schemas.microsoft.com/office/drawing/2014/main" id="{B078C1C1-57A4-4563-9315-AA6BC6C0218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THE CHALLENGE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BA369A-1315-4B31-AF99-FD75444CBC82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Standard RAG breaks when research spans multiple data types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9562C4A-E5E9-4FBF-8C41-ACB21EE312C3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OmniBrain routes each question to the source that can answer it reliably.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F36ADB0-A78A-49FD-AF0D-FAF3432DC745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6E34736-23EE-4BAD-B015-581809FEBA49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8805E4F7-6921-40E0-A43D-D861AE9DF6D1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doc-problem">
            <a:extLst>
              <a:ext uri="{FF2B5EF4-FFF2-40B4-BE49-F238E27FC236}">
                <a16:creationId xmlns:a16="http://schemas.microsoft.com/office/drawing/2014/main" id="{3FC8A8DA-8363-4B0A-B717-2F1991EE66AE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3124200" cy="2619375"/>
          </a:xfrm>
          <a:prstGeom prst="roundRect">
            <a:avLst>
              <a:gd name="adj" fmla="val 4364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8" name="doc-h">
            <a:extLst>
              <a:ext uri="{FF2B5EF4-FFF2-40B4-BE49-F238E27FC236}">
                <a16:creationId xmlns:a16="http://schemas.microsoft.com/office/drawing/2014/main" id="{47374849-4A40-42DD-9057-46FAD80164AA}"/>
              </a:ext>
            </a:extLst>
          </p:cNvPr>
          <p:cNvSpPr>
            <a:spLocks noGrp="1"/>
          </p:cNvSpPr>
          <p:nvPr/>
        </p:nvSpPr>
        <p:spPr>
          <a:xfrm>
            <a:off x="1009650" y="2476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Complex PDFs</a:t>
            </a:r>
          </a:p>
        </p:txBody>
      </p:sp>
      <p:sp>
        <p:nvSpPr>
          <p:cNvPr id="9" name="doc-b">
            <a:extLst>
              <a:ext uri="{FF2B5EF4-FFF2-40B4-BE49-F238E27FC236}">
                <a16:creationId xmlns:a16="http://schemas.microsoft.com/office/drawing/2014/main" id="{3B696900-F9DF-40CD-B2B5-EA89AD27F720}"/>
              </a:ext>
            </a:extLst>
          </p:cNvPr>
          <p:cNvSpPr>
            <a:spLocks noGrp="1"/>
          </p:cNvSpPr>
          <p:nvPr/>
        </p:nvSpPr>
        <p:spPr>
          <a:xfrm>
            <a:off x="1009650" y="3000375"/>
            <a:ext cx="2286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Financial reports mix narrative text, tables, charts, and embedded images. A single plain-text retrieval pass loses important context.</a:t>
            </a:r>
          </a:p>
        </p:txBody>
      </p:sp>
      <p:sp>
        <p:nvSpPr>
          <p:cNvPr id="10" name="data-problem">
            <a:extLst>
              <a:ext uri="{FF2B5EF4-FFF2-40B4-BE49-F238E27FC236}">
                <a16:creationId xmlns:a16="http://schemas.microsoft.com/office/drawing/2014/main" id="{4D29010B-2165-4DFD-9A29-099A10BEF89D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3124200" cy="2619375"/>
          </a:xfrm>
          <a:prstGeom prst="roundRect">
            <a:avLst>
              <a:gd name="adj" fmla="val 4364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11" name="data-h">
            <a:extLst>
              <a:ext uri="{FF2B5EF4-FFF2-40B4-BE49-F238E27FC236}">
                <a16:creationId xmlns:a16="http://schemas.microsoft.com/office/drawing/2014/main" id="{D55A6654-CE26-409F-9F78-F023C1530B9D}"/>
              </a:ext>
            </a:extLst>
          </p:cNvPr>
          <p:cNvSpPr>
            <a:spLocks noGrp="1"/>
          </p:cNvSpPr>
          <p:nvPr/>
        </p:nvSpPr>
        <p:spPr>
          <a:xfrm>
            <a:off x="4848225" y="2476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Data silos</a:t>
            </a:r>
          </a:p>
        </p:txBody>
      </p:sp>
      <p:sp>
        <p:nvSpPr>
          <p:cNvPr id="12" name="data-b">
            <a:extLst>
              <a:ext uri="{FF2B5EF4-FFF2-40B4-BE49-F238E27FC236}">
                <a16:creationId xmlns:a16="http://schemas.microsoft.com/office/drawing/2014/main" id="{A80425E0-39B8-48D7-836A-3AA62E1891A2}"/>
              </a:ext>
            </a:extLst>
          </p:cNvPr>
          <p:cNvSpPr>
            <a:spLocks noGrp="1"/>
          </p:cNvSpPr>
          <p:nvPr/>
        </p:nvSpPr>
        <p:spPr>
          <a:xfrm>
            <a:off x="4848225" y="3000375"/>
            <a:ext cx="2286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Historical prices and trading volume belong in structured data stores, not in a document-only vector search.</a:t>
            </a:r>
          </a:p>
        </p:txBody>
      </p:sp>
      <p:sp>
        <p:nvSpPr>
          <p:cNvPr id="13" name="trust-problem">
            <a:extLst>
              <a:ext uri="{FF2B5EF4-FFF2-40B4-BE49-F238E27FC236}">
                <a16:creationId xmlns:a16="http://schemas.microsoft.com/office/drawing/2014/main" id="{13C28DC4-3982-49DF-9C8C-2E9B32E79F0F}"/>
              </a:ext>
            </a:extLst>
          </p:cNvPr>
          <p:cNvSpPr>
            <a:spLocks noGrp="1"/>
          </p:cNvSpPr>
          <p:nvPr/>
        </p:nvSpPr>
        <p:spPr>
          <a:xfrm>
            <a:off x="8362950" y="2143125"/>
            <a:ext cx="3124200" cy="2619375"/>
          </a:xfrm>
          <a:prstGeom prst="roundRect">
            <a:avLst>
              <a:gd name="adj" fmla="val 4364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14" name="trust-h">
            <a:extLst>
              <a:ext uri="{FF2B5EF4-FFF2-40B4-BE49-F238E27FC236}">
                <a16:creationId xmlns:a16="http://schemas.microsoft.com/office/drawing/2014/main" id="{9BB0E472-9085-44D0-ABE7-C924DCF1776B}"/>
              </a:ext>
            </a:extLst>
          </p:cNvPr>
          <p:cNvSpPr>
            <a:spLocks noGrp="1"/>
          </p:cNvSpPr>
          <p:nvPr/>
        </p:nvSpPr>
        <p:spPr>
          <a:xfrm>
            <a:off x="8686800" y="2476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Hallucination risk</a:t>
            </a:r>
          </a:p>
        </p:txBody>
      </p:sp>
      <p:sp>
        <p:nvSpPr>
          <p:cNvPr id="15" name="trust-b">
            <a:extLst>
              <a:ext uri="{FF2B5EF4-FFF2-40B4-BE49-F238E27FC236}">
                <a16:creationId xmlns:a16="http://schemas.microsoft.com/office/drawing/2014/main" id="{129F80C2-6D31-431B-82B3-F93A560AA948}"/>
              </a:ext>
            </a:extLst>
          </p:cNvPr>
          <p:cNvSpPr>
            <a:spLocks noGrp="1"/>
          </p:cNvSpPr>
          <p:nvPr/>
        </p:nvSpPr>
        <p:spPr>
          <a:xfrm>
            <a:off x="8686800" y="3000375"/>
            <a:ext cx="2286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Weak retrieval can produce confident but unsupported answers unless the system can retry or refuse.</a:t>
            </a:r>
          </a:p>
        </p:txBody>
      </p:sp>
    </p:spTree>
    <p:extLst>
      <p:ext uri="{BB962C8B-B14F-4D97-AF65-F5344CB8AC3E}">
        <p14:creationId xmlns:p14="http://schemas.microsoft.com/office/powerpoint/2010/main" val="73995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E5EE8D4C-0892-4119-B042-726296C4802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SYSTEM ARCHITECTURE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2F5353-963C-4899-B755-7AF68F2DCA40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A supervisor coordinates specialist retrieval and reasoning paths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9468F0-EC0B-4F9D-8FF9-1E6DBE5144D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architecture separates the user workspace, orchestration, data services, and output guardrails.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2075DDE-2A93-4CE0-8F6F-F4E74F128F17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FF17253-F81E-4E9E-8D29-53DFA4779F04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626567F9-FB17-430D-8012-BEE18B6224DB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7" name="user">
            <a:extLst>
              <a:ext uri="{FF2B5EF4-FFF2-40B4-BE49-F238E27FC236}">
                <a16:creationId xmlns:a16="http://schemas.microsoft.com/office/drawing/2014/main" id="{32CD86D3-81E3-49BB-B802-53BD3396A280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10213F"/>
          </a:solidFill>
          <a:ln w="9525">
            <a:solidFill>
              <a:srgbClr val="10213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Researcher</a:t>
            </a: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PDF + question</a:t>
            </a:r>
          </a:p>
        </p:txBody>
      </p:sp>
      <p:sp>
        <p:nvSpPr>
          <p:cNvPr id="8" name="supervisor">
            <a:extLst>
              <a:ext uri="{FF2B5EF4-FFF2-40B4-BE49-F238E27FC236}">
                <a16:creationId xmlns:a16="http://schemas.microsoft.com/office/drawing/2014/main" id="{68030E80-D547-4C8E-A8E6-E1DD07E153CA}"/>
              </a:ext>
            </a:extLst>
          </p:cNvPr>
          <p:cNvSpPr>
            <a:spLocks noGrp="1"/>
          </p:cNvSpPr>
          <p:nvPr/>
        </p:nvSpPr>
        <p:spPr>
          <a:xfrm>
            <a:off x="3448050" y="2238375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F6F9FC"/>
          </a:solidFill>
          <a:ln w="9525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LangGraph supervisor</a:t>
            </a:r>
          </a:p>
          <a:p>
            <a:pPr algn="ctr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Classifies intent and</a:t>
            </a:r>
          </a:p>
          <a:p>
            <a:pPr algn="ctr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maintains state</a:t>
            </a:r>
          </a:p>
        </p:txBody>
      </p:sp>
      <p:sp>
        <p:nvSpPr>
          <p:cNvPr id="9" name="document">
            <a:extLst>
              <a:ext uri="{FF2B5EF4-FFF2-40B4-BE49-F238E27FC236}">
                <a16:creationId xmlns:a16="http://schemas.microsoft.com/office/drawing/2014/main" id="{A8374FE0-5F1B-46F2-89AA-11E9E3D445FA}"/>
              </a:ext>
            </a:extLst>
          </p:cNvPr>
          <p:cNvSpPr>
            <a:spLocks noGrp="1"/>
          </p:cNvSpPr>
          <p:nvPr/>
        </p:nvSpPr>
        <p:spPr>
          <a:xfrm>
            <a:off x="6762750" y="1952625"/>
            <a:ext cx="1905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Document agent</a:t>
            </a:r>
          </a:p>
          <a:p>
            <a:pPr algn="ctr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Qdrant retrieval</a:t>
            </a:r>
          </a:p>
        </p:txBody>
      </p:sp>
      <p:sp>
        <p:nvSpPr>
          <p:cNvPr id="10" name="sql">
            <a:extLst>
              <a:ext uri="{FF2B5EF4-FFF2-40B4-BE49-F238E27FC236}">
                <a16:creationId xmlns:a16="http://schemas.microsoft.com/office/drawing/2014/main" id="{C99E28A3-C0FA-42B6-AC53-1FAD8E28E410}"/>
              </a:ext>
            </a:extLst>
          </p:cNvPr>
          <p:cNvSpPr>
            <a:spLocks noGrp="1"/>
          </p:cNvSpPr>
          <p:nvPr/>
        </p:nvSpPr>
        <p:spPr>
          <a:xfrm>
            <a:off x="6762750" y="3095625"/>
            <a:ext cx="1905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SQL agent</a:t>
            </a:r>
          </a:p>
          <a:p>
            <a:pPr algn="ctr">
              <a:defRPr sz="1275" b="1">
                <a:solidFill>
                  <a:srgbClr val="10213F"/>
                </a:solidFill>
              </a:defRPr>
            </a:pPr>
            <a:r>
              <a:rPr sz="1275" b="1">
                <a:solidFill>
                  <a:srgbClr val="10213F"/>
                </a:solidFill>
              </a:rPr>
              <a:t>SQLite market data</a:t>
            </a:r>
          </a:p>
        </p:txBody>
      </p:sp>
      <p:sp>
        <p:nvSpPr>
          <p:cNvPr id="11" name="final">
            <a:extLst>
              <a:ext uri="{FF2B5EF4-FFF2-40B4-BE49-F238E27FC236}">
                <a16:creationId xmlns:a16="http://schemas.microsoft.com/office/drawing/2014/main" id="{7AEF5A31-E23C-4FD2-A807-AF7D546BECF2}"/>
              </a:ext>
            </a:extLst>
          </p:cNvPr>
          <p:cNvSpPr>
            <a:spLocks noGrp="1"/>
          </p:cNvSpPr>
          <p:nvPr/>
        </p:nvSpPr>
        <p:spPr>
          <a:xfrm>
            <a:off x="9667875" y="2428875"/>
            <a:ext cx="1809750" cy="85725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9525">
            <a:solidFill>
              <a:srgbClr val="0E7490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Cited answer</a:t>
            </a: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or safe refusal</a:t>
            </a:r>
          </a:p>
        </p:txBody>
      </p:sp>
      <p:cxnSp>
        <p:nvCxnSpPr>
          <p:cNvPr id="29" name="Straight Arrow Connector 28"/>
          <p:cNvCxnSpPr>
            <a:stCxn id="7" idx="3"/>
            <a:endCxn id="8" idx="1"/>
          </p:cNvCxnSpPr>
          <p:nvPr/>
        </p:nvCxnSpPr>
        <p:spPr>
          <a:xfrm>
            <a:off x="2419350" y="2857500"/>
            <a:ext cx="10287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0" name="Straight Arrow Connector 29"/>
          <p:cNvCxnSpPr>
            <a:stCxn id="8" idx="3"/>
            <a:endCxn id="9" idx="1"/>
          </p:cNvCxnSpPr>
          <p:nvPr/>
        </p:nvCxnSpPr>
        <p:spPr>
          <a:xfrm flipV="1">
            <a:off x="5543550" y="2371725"/>
            <a:ext cx="1219200" cy="485775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1" name="Straight Arrow Connector 30"/>
          <p:cNvCxnSpPr>
            <a:stCxn id="8" idx="3"/>
            <a:endCxn id="10" idx="1"/>
          </p:cNvCxnSpPr>
          <p:nvPr/>
        </p:nvCxnSpPr>
        <p:spPr>
          <a:xfrm>
            <a:off x="5543550" y="2857500"/>
            <a:ext cx="1219200" cy="657225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2" name="Straight Arrow Connector 31"/>
          <p:cNvCxnSpPr>
            <a:stCxn id="9" idx="3"/>
            <a:endCxn id="11" idx="1"/>
          </p:cNvCxnSpPr>
          <p:nvPr/>
        </p:nvCxnSpPr>
        <p:spPr>
          <a:xfrm>
            <a:off x="8667750" y="2371725"/>
            <a:ext cx="1000125" cy="485775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3" name="Straight Arrow Connector 32"/>
          <p:cNvCxnSpPr>
            <a:stCxn id="10" idx="3"/>
            <a:endCxn id="11" idx="1"/>
          </p:cNvCxnSpPr>
          <p:nvPr/>
        </p:nvCxnSpPr>
        <p:spPr>
          <a:xfrm flipV="1">
            <a:off x="8667750" y="2857500"/>
            <a:ext cx="1000125" cy="657225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7" name="arch-note">
            <a:extLst>
              <a:ext uri="{FF2B5EF4-FFF2-40B4-BE49-F238E27FC236}">
                <a16:creationId xmlns:a16="http://schemas.microsoft.com/office/drawing/2014/main" id="{D52A8ED2-9B90-4D35-895B-F14DE63CE3FA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Target multi-modal extension: VLM specialist for chart / image reasoning + CLIP-style image embeddings.</a:t>
            </a:r>
          </a:p>
        </p:txBody>
      </p:sp>
    </p:spTree>
    <p:extLst>
      <p:ext uri="{BB962C8B-B14F-4D97-AF65-F5344CB8AC3E}">
        <p14:creationId xmlns:p14="http://schemas.microsoft.com/office/powerpoint/2010/main" val="42012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EB117F58-322A-42B9-A453-BD202CB06E9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ROUTING AUDIT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234724E-C449-443D-BEC5-79069A88B2E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The supervisor makes document and SQL choices explicit and testable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41AA653-5E34-4374-A718-845F40635440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Deterministic pre-routing handles clear market-data questions before LLM supervision.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86ED3DA-C3AC-44E3-A47C-6D8E927BE0DD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9AC62BD-9AEE-4F0D-84FD-156AF19EEEB5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8C82C88C-14AD-46FA-8DE7-5D943CBE486F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doc-route">
            <a:extLst>
              <a:ext uri="{FF2B5EF4-FFF2-40B4-BE49-F238E27FC236}">
                <a16:creationId xmlns:a16="http://schemas.microsoft.com/office/drawing/2014/main" id="{29150AA9-7EAF-4235-918D-84262EDBD92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762500" cy="3190875"/>
          </a:xfrm>
          <a:prstGeom prst="roundRect">
            <a:avLst>
              <a:gd name="adj" fmla="val 3582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8" name="doc-route-title">
            <a:extLst>
              <a:ext uri="{FF2B5EF4-FFF2-40B4-BE49-F238E27FC236}">
                <a16:creationId xmlns:a16="http://schemas.microsoft.com/office/drawing/2014/main" id="{D12871BC-FCFF-4444-8102-6F84315ACE99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213F"/>
                </a:solidFill>
              </a:defRPr>
            </a:pPr>
            <a:r>
              <a:rPr sz="1875" b="1">
                <a:solidFill>
                  <a:srgbClr val="10213F"/>
                </a:solidFill>
              </a:rPr>
              <a:t>Document evidence request</a:t>
            </a:r>
          </a:p>
        </p:txBody>
      </p:sp>
      <p:sp>
        <p:nvSpPr>
          <p:cNvPr id="9" name="doc-query">
            <a:extLst>
              <a:ext uri="{FF2B5EF4-FFF2-40B4-BE49-F238E27FC236}">
                <a16:creationId xmlns:a16="http://schemas.microsoft.com/office/drawing/2014/main" id="{B05C6471-9757-43C5-98FF-222545158BD6}"/>
              </a:ext>
            </a:extLst>
          </p:cNvPr>
          <p:cNvSpPr>
            <a:spLocks noGrp="1"/>
          </p:cNvSpPr>
          <p:nvPr/>
        </p:nvSpPr>
        <p:spPr>
          <a:xfrm>
            <a:off x="1047750" y="3067050"/>
            <a:ext cx="381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“What does the revenue table</a:t>
            </a:r>
          </a:p>
          <a:p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in this PDF show?”</a:t>
            </a:r>
          </a:p>
        </p:txBody>
      </p:sp>
      <p:sp>
        <p:nvSpPr>
          <p:cNvPr id="10" name="doc-result">
            <a:extLst>
              <a:ext uri="{FF2B5EF4-FFF2-40B4-BE49-F238E27FC236}">
                <a16:creationId xmlns:a16="http://schemas.microsoft.com/office/drawing/2014/main" id="{969E6D26-7305-4333-A04F-0D05635FD7FF}"/>
              </a:ext>
            </a:extLst>
          </p:cNvPr>
          <p:cNvSpPr>
            <a:spLocks noGrp="1"/>
          </p:cNvSpPr>
          <p:nvPr/>
        </p:nvSpPr>
        <p:spPr>
          <a:xfrm>
            <a:off x="1047750" y="4029075"/>
            <a:ext cx="3524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Route: document_agent</a:t>
            </a: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Source: Qdrant vector retrieval</a:t>
            </a: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Output: cited document evidence</a:t>
            </a:r>
          </a:p>
        </p:txBody>
      </p:sp>
      <p:sp>
        <p:nvSpPr>
          <p:cNvPr id="11" name="sql-route">
            <a:extLst>
              <a:ext uri="{FF2B5EF4-FFF2-40B4-BE49-F238E27FC236}">
                <a16:creationId xmlns:a16="http://schemas.microsoft.com/office/drawing/2014/main" id="{C4F3A148-F607-466E-BAF4-A6AF60A9A0C8}"/>
              </a:ext>
            </a:extLst>
          </p:cNvPr>
          <p:cNvSpPr>
            <a:spLocks noGrp="1"/>
          </p:cNvSpPr>
          <p:nvPr/>
        </p:nvSpPr>
        <p:spPr>
          <a:xfrm>
            <a:off x="6724650" y="2095500"/>
            <a:ext cx="4762500" cy="3190875"/>
          </a:xfrm>
          <a:prstGeom prst="roundRect">
            <a:avLst>
              <a:gd name="adj" fmla="val 3582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12" name="sql-route-title">
            <a:extLst>
              <a:ext uri="{FF2B5EF4-FFF2-40B4-BE49-F238E27FC236}">
                <a16:creationId xmlns:a16="http://schemas.microsoft.com/office/drawing/2014/main" id="{E8593F20-4603-4B67-A5A6-A8A9038FD09F}"/>
              </a:ext>
            </a:extLst>
          </p:cNvPr>
          <p:cNvSpPr>
            <a:spLocks noGrp="1"/>
          </p:cNvSpPr>
          <p:nvPr/>
        </p:nvSpPr>
        <p:spPr>
          <a:xfrm>
            <a:off x="7067550" y="2457450"/>
            <a:ext cx="371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213F"/>
                </a:solidFill>
              </a:defRPr>
            </a:pPr>
            <a:r>
              <a:rPr sz="1875" b="1">
                <a:solidFill>
                  <a:srgbClr val="10213F"/>
                </a:solidFill>
              </a:rPr>
              <a:t>Structured market-data request</a:t>
            </a:r>
          </a:p>
        </p:txBody>
      </p:sp>
      <p:sp>
        <p:nvSpPr>
          <p:cNvPr id="13" name="sql-query">
            <a:extLst>
              <a:ext uri="{FF2B5EF4-FFF2-40B4-BE49-F238E27FC236}">
                <a16:creationId xmlns:a16="http://schemas.microsoft.com/office/drawing/2014/main" id="{CE72F6B3-E72F-442E-915F-15387E179607}"/>
              </a:ext>
            </a:extLst>
          </p:cNvPr>
          <p:cNvSpPr>
            <a:spLocks noGrp="1"/>
          </p:cNvSpPr>
          <p:nvPr/>
        </p:nvSpPr>
        <p:spPr>
          <a:xfrm>
            <a:off x="7067550" y="306705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“What was AAPL’s closing</a:t>
            </a:r>
          </a:p>
          <a:p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price on 2025-01-10?”</a:t>
            </a:r>
          </a:p>
        </p:txBody>
      </p:sp>
      <p:sp>
        <p:nvSpPr>
          <p:cNvPr id="14" name="sql-result">
            <a:extLst>
              <a:ext uri="{FF2B5EF4-FFF2-40B4-BE49-F238E27FC236}">
                <a16:creationId xmlns:a16="http://schemas.microsoft.com/office/drawing/2014/main" id="{A6BEFAE7-BB6E-418D-BAEA-6114A16055AA}"/>
              </a:ext>
            </a:extLst>
          </p:cNvPr>
          <p:cNvSpPr>
            <a:spLocks noGrp="1"/>
          </p:cNvSpPr>
          <p:nvPr/>
        </p:nvSpPr>
        <p:spPr>
          <a:xfrm>
            <a:off x="7067550" y="4029075"/>
            <a:ext cx="36671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Route: sql_agent</a:t>
            </a: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Source: SQLite market_prices</a:t>
            </a: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Output: parameterized data lookup</a:t>
            </a:r>
          </a:p>
        </p:txBody>
      </p:sp>
    </p:spTree>
    <p:extLst>
      <p:ext uri="{BB962C8B-B14F-4D97-AF65-F5344CB8AC3E}">
        <p14:creationId xmlns:p14="http://schemas.microsoft.com/office/powerpoint/2010/main" val="3528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C4588122-87C6-48EE-9A3A-FA7A3E77104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STRUCTURED DATA PATH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C12751-0873-4BDC-9FCC-CCA6C8A6B722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The SQL agent proves safe, repeatable access to historical market data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4DAAE62-FDD6-4141-9936-33BF2F7B15D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demonstration uses application-defined queries rather than accepting arbitrary SQL.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0A6CBD-58BD-4309-BDD8-52FE00D8F130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2602BC0-F3A7-4350-992E-BEFD709EA743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7A9AA821-C82A-478B-B43D-592A8783A1DE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market-table">
            <a:extLst>
              <a:ext uri="{FF2B5EF4-FFF2-40B4-BE49-F238E27FC236}">
                <a16:creationId xmlns:a16="http://schemas.microsoft.com/office/drawing/2014/main" id="{F699B74B-6D7C-451A-B53F-419094AEA91C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010150" cy="3143250"/>
          </a:xfrm>
          <a:prstGeom prst="roundRect">
            <a:avLst>
              <a:gd name="adj" fmla="val 3636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8" name="market-h">
            <a:extLst>
              <a:ext uri="{FF2B5EF4-FFF2-40B4-BE49-F238E27FC236}">
                <a16:creationId xmlns:a16="http://schemas.microsoft.com/office/drawing/2014/main" id="{0671A800-8A41-4C98-94CF-413C04BE1FA0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SQLite: market_prices</a:t>
            </a:r>
          </a:p>
        </p:txBody>
      </p:sp>
      <p:sp>
        <p:nvSpPr>
          <p:cNvPr id="9" name="market-cols">
            <a:extLst>
              <a:ext uri="{FF2B5EF4-FFF2-40B4-BE49-F238E27FC236}">
                <a16:creationId xmlns:a16="http://schemas.microsoft.com/office/drawing/2014/main" id="{81E85850-0560-4C67-902D-55F2EA68C0C7}"/>
              </a:ext>
            </a:extLst>
          </p:cNvPr>
          <p:cNvSpPr>
            <a:spLocks noGrp="1"/>
          </p:cNvSpPr>
          <p:nvPr/>
        </p:nvSpPr>
        <p:spPr>
          <a:xfrm>
            <a:off x="990600" y="2990850"/>
            <a:ext cx="411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E7490"/>
                </a:solidFill>
              </a:defRPr>
            </a:pPr>
            <a:r>
              <a:rPr sz="1125" b="1">
                <a:solidFill>
                  <a:srgbClr val="0E7490"/>
                </a:solidFill>
              </a:rPr>
              <a:t>ticker | trade_date | open | high | low | close | volume</a:t>
            </a:r>
          </a:p>
        </p:txBody>
      </p:sp>
      <p:sp>
        <p:nvSpPr>
          <p:cNvPr id="10" name="market-row1">
            <a:extLst>
              <a:ext uri="{FF2B5EF4-FFF2-40B4-BE49-F238E27FC236}">
                <a16:creationId xmlns:a16="http://schemas.microsoft.com/office/drawing/2014/main" id="{AB7153EC-4CEF-4F37-A288-FC53A8F0C8DC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AAPL | 2025-01-10 | … | 236.85 | …</a:t>
            </a:r>
          </a:p>
        </p:txBody>
      </p:sp>
      <p:sp>
        <p:nvSpPr>
          <p:cNvPr id="11" name="market-row2">
            <a:extLst>
              <a:ext uri="{FF2B5EF4-FFF2-40B4-BE49-F238E27FC236}">
                <a16:creationId xmlns:a16="http://schemas.microsoft.com/office/drawing/2014/main" id="{5477DDA8-A3DC-4488-B333-C56B3DB78498}"/>
              </a:ext>
            </a:extLst>
          </p:cNvPr>
          <p:cNvSpPr>
            <a:spLocks noGrp="1"/>
          </p:cNvSpPr>
          <p:nvPr/>
        </p:nvSpPr>
        <p:spPr>
          <a:xfrm>
            <a:off x="990600" y="39433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MSFT | 2025-01-10 | … | volume</a:t>
            </a:r>
          </a:p>
        </p:txBody>
      </p:sp>
      <p:sp>
        <p:nvSpPr>
          <p:cNvPr id="12" name="market-note">
            <a:extLst>
              <a:ext uri="{FF2B5EF4-FFF2-40B4-BE49-F238E27FC236}">
                <a16:creationId xmlns:a16="http://schemas.microsoft.com/office/drawing/2014/main" id="{8797D8D5-22FB-4875-98F7-3DEB62677D2E}"/>
              </a:ext>
            </a:extLst>
          </p:cNvPr>
          <p:cNvSpPr>
            <a:spLocks noGrp="1"/>
          </p:cNvSpPr>
          <p:nvPr/>
        </p:nvSpPr>
        <p:spPr>
          <a:xfrm>
            <a:off x="990600" y="45148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Seeded AAPL and MSFT examples make the audit reproducible.</a:t>
            </a:r>
          </a:p>
        </p:txBody>
      </p:sp>
      <p:sp>
        <p:nvSpPr>
          <p:cNvPr id="13" name="controls">
            <a:extLst>
              <a:ext uri="{FF2B5EF4-FFF2-40B4-BE49-F238E27FC236}">
                <a16:creationId xmlns:a16="http://schemas.microsoft.com/office/drawing/2014/main" id="{A0CD55EA-E911-482D-9806-D98E0F9754D9}"/>
              </a:ext>
            </a:extLst>
          </p:cNvPr>
          <p:cNvSpPr>
            <a:spLocks noGrp="1"/>
          </p:cNvSpPr>
          <p:nvPr/>
        </p:nvSpPr>
        <p:spPr>
          <a:xfrm>
            <a:off x="6743700" y="2133600"/>
            <a:ext cx="47434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controls-h">
            <a:extLst>
              <a:ext uri="{FF2B5EF4-FFF2-40B4-BE49-F238E27FC236}">
                <a16:creationId xmlns:a16="http://schemas.microsoft.com/office/drawing/2014/main" id="{918EF3B0-5FE2-40E1-87C4-F63CB51BC620}"/>
              </a:ext>
            </a:extLst>
          </p:cNvPr>
          <p:cNvSpPr>
            <a:spLocks noGrp="1"/>
          </p:cNvSpPr>
          <p:nvPr/>
        </p:nvSpPr>
        <p:spPr>
          <a:xfrm>
            <a:off x="7086600" y="24574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Why this is safer</a:t>
            </a:r>
          </a:p>
        </p:txBody>
      </p:sp>
      <p:sp>
        <p:nvSpPr>
          <p:cNvPr id="15" name="b-Defined route">
            <a:extLst>
              <a:ext uri="{FF2B5EF4-FFF2-40B4-BE49-F238E27FC236}">
                <a16:creationId xmlns:a16="http://schemas.microsoft.com/office/drawing/2014/main" id="{B35C8F03-B335-4F29-86AA-90D1D2260065}"/>
              </a:ext>
            </a:extLst>
          </p:cNvPr>
          <p:cNvSpPr>
            <a:spLocks noGrp="1"/>
          </p:cNvSpPr>
          <p:nvPr/>
        </p:nvSpPr>
        <p:spPr>
          <a:xfrm>
            <a:off x="7086600" y="30480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bl-Defined route">
            <a:extLst>
              <a:ext uri="{FF2B5EF4-FFF2-40B4-BE49-F238E27FC236}">
                <a16:creationId xmlns:a16="http://schemas.microsoft.com/office/drawing/2014/main" id="{73BFA645-B29D-4A36-9415-F24E54FADF39}"/>
              </a:ext>
            </a:extLst>
          </p:cNvPr>
          <p:cNvSpPr>
            <a:spLocks noGrp="1"/>
          </p:cNvSpPr>
          <p:nvPr/>
        </p:nvSpPr>
        <p:spPr>
          <a:xfrm>
            <a:off x="7334250" y="3048000"/>
            <a:ext cx="3562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Defined route</a:t>
            </a:r>
          </a:p>
        </p:txBody>
      </p:sp>
      <p:sp>
        <p:nvSpPr>
          <p:cNvPr id="17" name="bb-Defined route">
            <a:extLst>
              <a:ext uri="{FF2B5EF4-FFF2-40B4-BE49-F238E27FC236}">
                <a16:creationId xmlns:a16="http://schemas.microsoft.com/office/drawing/2014/main" id="{CF6C78D0-7F34-43B9-ABA4-2808C5713B2E}"/>
              </a:ext>
            </a:extLst>
          </p:cNvPr>
          <p:cNvSpPr>
            <a:spLocks noGrp="1"/>
          </p:cNvSpPr>
          <p:nvPr/>
        </p:nvSpPr>
        <p:spPr>
          <a:xfrm>
            <a:off x="7334250" y="3305175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Only known market-data prompts reach the SQL agent.</a:t>
            </a:r>
          </a:p>
        </p:txBody>
      </p:sp>
      <p:sp>
        <p:nvSpPr>
          <p:cNvPr id="18" name="b-Parameterized">
            <a:extLst>
              <a:ext uri="{FF2B5EF4-FFF2-40B4-BE49-F238E27FC236}">
                <a16:creationId xmlns:a16="http://schemas.microsoft.com/office/drawing/2014/main" id="{9A5B64FB-0328-43E7-A0A6-C21C3F9E53BC}"/>
              </a:ext>
            </a:extLst>
          </p:cNvPr>
          <p:cNvSpPr>
            <a:spLocks noGrp="1"/>
          </p:cNvSpPr>
          <p:nvPr/>
        </p:nvSpPr>
        <p:spPr>
          <a:xfrm>
            <a:off x="7086600" y="3857625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9" name="bl-Parameterized">
            <a:extLst>
              <a:ext uri="{FF2B5EF4-FFF2-40B4-BE49-F238E27FC236}">
                <a16:creationId xmlns:a16="http://schemas.microsoft.com/office/drawing/2014/main" id="{5EFF6694-27AB-4ADD-A12F-F9393E690808}"/>
              </a:ext>
            </a:extLst>
          </p:cNvPr>
          <p:cNvSpPr>
            <a:spLocks noGrp="1"/>
          </p:cNvSpPr>
          <p:nvPr/>
        </p:nvSpPr>
        <p:spPr>
          <a:xfrm>
            <a:off x="7334250" y="3857625"/>
            <a:ext cx="3562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Parameterized</a:t>
            </a:r>
          </a:p>
        </p:txBody>
      </p:sp>
      <p:sp>
        <p:nvSpPr>
          <p:cNvPr id="20" name="bb-Parameterized">
            <a:extLst>
              <a:ext uri="{FF2B5EF4-FFF2-40B4-BE49-F238E27FC236}">
                <a16:creationId xmlns:a16="http://schemas.microsoft.com/office/drawing/2014/main" id="{41CB9787-BD67-4531-8CAF-C7329EA8F809}"/>
              </a:ext>
            </a:extLst>
          </p:cNvPr>
          <p:cNvSpPr>
            <a:spLocks noGrp="1"/>
          </p:cNvSpPr>
          <p:nvPr/>
        </p:nvSpPr>
        <p:spPr>
          <a:xfrm>
            <a:off x="7334250" y="4114800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The application binds values; it does not execute free-form user SQL.</a:t>
            </a:r>
          </a:p>
        </p:txBody>
      </p:sp>
      <p:sp>
        <p:nvSpPr>
          <p:cNvPr id="21" name="b-Auditable">
            <a:extLst>
              <a:ext uri="{FF2B5EF4-FFF2-40B4-BE49-F238E27FC236}">
                <a16:creationId xmlns:a16="http://schemas.microsoft.com/office/drawing/2014/main" id="{C6941436-E291-48AC-B61C-13C67A32BBAB}"/>
              </a:ext>
            </a:extLst>
          </p:cNvPr>
          <p:cNvSpPr>
            <a:spLocks noGrp="1"/>
          </p:cNvSpPr>
          <p:nvPr/>
        </p:nvSpPr>
        <p:spPr>
          <a:xfrm>
            <a:off x="7086600" y="46672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bl-Auditable">
            <a:extLst>
              <a:ext uri="{FF2B5EF4-FFF2-40B4-BE49-F238E27FC236}">
                <a16:creationId xmlns:a16="http://schemas.microsoft.com/office/drawing/2014/main" id="{238E89F4-3F71-4F27-A49A-F9D007E64381}"/>
              </a:ext>
            </a:extLst>
          </p:cNvPr>
          <p:cNvSpPr>
            <a:spLocks noGrp="1"/>
          </p:cNvSpPr>
          <p:nvPr/>
        </p:nvSpPr>
        <p:spPr>
          <a:xfrm>
            <a:off x="7334250" y="4667250"/>
            <a:ext cx="3562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Auditable</a:t>
            </a:r>
          </a:p>
        </p:txBody>
      </p:sp>
      <p:sp>
        <p:nvSpPr>
          <p:cNvPr id="23" name="bb-Auditable">
            <a:extLst>
              <a:ext uri="{FF2B5EF4-FFF2-40B4-BE49-F238E27FC236}">
                <a16:creationId xmlns:a16="http://schemas.microsoft.com/office/drawing/2014/main" id="{6E3C6C7B-2D47-4A10-B500-9D6E44C65C77}"/>
              </a:ext>
            </a:extLst>
          </p:cNvPr>
          <p:cNvSpPr>
            <a:spLocks noGrp="1"/>
          </p:cNvSpPr>
          <p:nvPr/>
        </p:nvSpPr>
        <p:spPr>
          <a:xfrm>
            <a:off x="7334250" y="4924425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Tests verify routing decisions and expected database source.</a:t>
            </a:r>
          </a:p>
        </p:txBody>
      </p:sp>
    </p:spTree>
    <p:extLst>
      <p:ext uri="{BB962C8B-B14F-4D97-AF65-F5344CB8AC3E}">
        <p14:creationId xmlns:p14="http://schemas.microsoft.com/office/powerpoint/2010/main" val="151242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506" y="541176"/>
            <a:ext cx="460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Frontend Design</a:t>
            </a:r>
          </a:p>
          <a:p>
            <a:endParaRPr lang="en-GB" b="1" dirty="0"/>
          </a:p>
        </p:txBody>
      </p:sp>
      <p:pic>
        <p:nvPicPr>
          <p:cNvPr id="3" name="Picture 2" descr="C:\Users\user\Downloads\WhatsApp Image 2026-08-10 at 4.13.17 PM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527" y="1110343"/>
            <a:ext cx="9330612" cy="4973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281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8579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Backend Design</a:t>
            </a:r>
            <a:endParaRPr lang="en-GB" b="1" dirty="0"/>
          </a:p>
        </p:txBody>
      </p:sp>
      <p:pic>
        <p:nvPicPr>
          <p:cNvPr id="3" name="Picture 2" descr="C:\Users\user\Downloads\WhatsApp Image 2026-08-16 at 12.38.39 PM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169315"/>
            <a:ext cx="5066522" cy="29184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 descr="C:\Users\user\Downloads\WhatsApp Image 2026-08-16 at 12.38.40 PM.jpe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454" y="2169315"/>
            <a:ext cx="5585460" cy="29184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6260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A8E9A7DD-693B-4FE7-8C00-670791499E7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SELF-CORRECTION LOOP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41B7DF7-C889-438A-8FEA-862D7F2EDB4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Weak retrieval is corrected before the system answers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7D27117-C2B0-4510-A0BE-1927AF97F3A9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system retries once with a narrower query, then refuses unsupported responses.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81A180C-A067-4E3D-B73A-FB98194054B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8B06DC5-B4DB-4B42-B5A3-6F7287D31748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A9522A38-BABA-49F6-BA2C-3A0EEB5C1F2D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retrieve">
            <a:extLst>
              <a:ext uri="{FF2B5EF4-FFF2-40B4-BE49-F238E27FC236}">
                <a16:creationId xmlns:a16="http://schemas.microsoft.com/office/drawing/2014/main" id="{64514E80-C494-49BB-9A12-CD317269FEA1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6F9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1. Retrieve</a:t>
            </a:r>
          </a:p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semantic chunks</a:t>
            </a:r>
          </a:p>
        </p:txBody>
      </p:sp>
      <p:sp>
        <p:nvSpPr>
          <p:cNvPr id="8" name="score">
            <a:extLst>
              <a:ext uri="{FF2B5EF4-FFF2-40B4-BE49-F238E27FC236}">
                <a16:creationId xmlns:a16="http://schemas.microsoft.com/office/drawing/2014/main" id="{71AB2FC0-7F3D-4558-B9F1-2A306FEAD10D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2. Check</a:t>
            </a:r>
          </a:p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relevance score</a:t>
            </a:r>
          </a:p>
        </p:txBody>
      </p:sp>
      <p:sp>
        <p:nvSpPr>
          <p:cNvPr id="9" name="rewrite">
            <a:extLst>
              <a:ext uri="{FF2B5EF4-FFF2-40B4-BE49-F238E27FC236}">
                <a16:creationId xmlns:a16="http://schemas.microsoft.com/office/drawing/2014/main" id="{96162676-2300-490C-A4EF-2B3BBD5699A9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6F9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3. Rewrite query</a:t>
            </a:r>
          </a:p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if score &lt; 0.45</a:t>
            </a:r>
          </a:p>
        </p:txBody>
      </p:sp>
      <p:sp>
        <p:nvSpPr>
          <p:cNvPr id="10" name="result">
            <a:extLst>
              <a:ext uri="{FF2B5EF4-FFF2-40B4-BE49-F238E27FC236}">
                <a16:creationId xmlns:a16="http://schemas.microsoft.com/office/drawing/2014/main" id="{64661C05-51A1-4DFD-9D12-9A95DC6C6306}"/>
              </a:ext>
            </a:extLst>
          </p:cNvPr>
          <p:cNvSpPr>
            <a:spLocks noGrp="1"/>
          </p:cNvSpPr>
          <p:nvPr/>
        </p:nvSpPr>
        <p:spPr>
          <a:xfrm>
            <a:off x="8801100" y="25717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0E7490"/>
          </a:solidFill>
          <a:ln w="9525">
            <a:solidFill>
              <a:srgbClr val="0E7490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4. Cited answer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 refusal</a:t>
            </a:r>
          </a:p>
        </p:txBody>
      </p:sp>
      <p:cxnSp>
        <p:nvCxnSpPr>
          <p:cNvPr id="25" name="Straight Arrow Connector 24"/>
          <p:cNvCxnSpPr>
            <a:stCxn id="7" idx="3"/>
            <a:endCxn id="8" idx="1"/>
          </p:cNvCxnSpPr>
          <p:nvPr/>
        </p:nvCxnSpPr>
        <p:spPr>
          <a:xfrm>
            <a:off x="2743200" y="3095625"/>
            <a:ext cx="6858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26" name="Straight Arrow Connector 25"/>
          <p:cNvCxnSpPr>
            <a:stCxn id="8" idx="3"/>
            <a:endCxn id="9" idx="1"/>
          </p:cNvCxnSpPr>
          <p:nvPr/>
        </p:nvCxnSpPr>
        <p:spPr>
          <a:xfrm>
            <a:off x="5429250" y="3095625"/>
            <a:ext cx="6858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9" idx="3"/>
            <a:endCxn id="10" idx="1"/>
          </p:cNvCxnSpPr>
          <p:nvPr/>
        </p:nvCxnSpPr>
        <p:spPr>
          <a:xfrm>
            <a:off x="8115300" y="3095625"/>
            <a:ext cx="6858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4" name="self-rag-copy">
            <a:extLst>
              <a:ext uri="{FF2B5EF4-FFF2-40B4-BE49-F238E27FC236}">
                <a16:creationId xmlns:a16="http://schemas.microsoft.com/office/drawing/2014/main" id="{C80441FB-DF75-43F8-8646-EDFEC3C0B4D7}"/>
              </a:ext>
            </a:extLst>
          </p:cNvPr>
          <p:cNvSpPr>
            <a:spLocks noGrp="1"/>
          </p:cNvSpPr>
          <p:nvPr/>
        </p:nvSpPr>
        <p:spPr>
          <a:xfrm>
            <a:off x="1238250" y="4333875"/>
            <a:ext cx="942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Rewritten query focus: directly stated facts, named entities, and numerical evidence.</a:t>
            </a:r>
          </a:p>
          <a:p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If a second retrieval remains weak, OmniBrain clearly says it cannot find sufficient evidence.</a:t>
            </a:r>
          </a:p>
        </p:txBody>
      </p:sp>
    </p:spTree>
    <p:extLst>
      <p:ext uri="{BB962C8B-B14F-4D97-AF65-F5344CB8AC3E}">
        <p14:creationId xmlns:p14="http://schemas.microsoft.com/office/powerpoint/2010/main" val="210671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">
            <a:extLst>
              <a:ext uri="{FF2B5EF4-FFF2-40B4-BE49-F238E27FC236}">
                <a16:creationId xmlns:a16="http://schemas.microsoft.com/office/drawing/2014/main" id="{4A8A66A2-55BE-4A1B-9E1D-92CCC184059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TEST EVIDENCE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D3187A-5971-4081-8DE8-9AF767A833DE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Four guardrail checks pass deterministically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8A4A943-70F8-425B-AEBA-C93E14AD7C0E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test suite validates retry behavior and citation enforcement without depending on a live LLM response.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06F0FA3-2E32-4889-9C57-4D2819E41FB2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580F45B-DED5-41CC-B7D3-3649E21F0241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42C5B5D9-2F37-47DC-BD76-BBC69969426C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07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549523"/>
            <a:ext cx="6429375" cy="2139955"/>
          </a:xfrm>
          <a:prstGeom prst="roundRect">
            <a:avLst>
              <a:gd name="adj" fmla="val 3636"/>
            </a:avLst>
          </a:prstGeom>
        </p:spPr>
      </p:pic>
      <p:sp>
        <p:nvSpPr>
          <p:cNvPr id="8" name="test-summary">
            <a:extLst>
              <a:ext uri="{FF2B5EF4-FFF2-40B4-BE49-F238E27FC236}">
                <a16:creationId xmlns:a16="http://schemas.microsoft.com/office/drawing/2014/main" id="{3817C399-D854-4641-BCBA-22953E575044}"/>
              </a:ext>
            </a:extLst>
          </p:cNvPr>
          <p:cNvSpPr>
            <a:spLocks noGrp="1"/>
          </p:cNvSpPr>
          <p:nvPr/>
        </p:nvSpPr>
        <p:spPr>
          <a:xfrm>
            <a:off x="7667625" y="2095500"/>
            <a:ext cx="3810000" cy="3095625"/>
          </a:xfrm>
          <a:prstGeom prst="roundRect">
            <a:avLst>
              <a:gd name="adj" fmla="val 3692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9" name="test-head">
            <a:extLst>
              <a:ext uri="{FF2B5EF4-FFF2-40B4-BE49-F238E27FC236}">
                <a16:creationId xmlns:a16="http://schemas.microsoft.com/office/drawing/2014/main" id="{93671DBE-AC14-4A83-979A-D8914FCF1BD9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What the checks prove</a:t>
            </a:r>
          </a:p>
        </p:txBody>
      </p:sp>
      <p:sp>
        <p:nvSpPr>
          <p:cNvPr id="10" name="b-Retry">
            <a:extLst>
              <a:ext uri="{FF2B5EF4-FFF2-40B4-BE49-F238E27FC236}">
                <a16:creationId xmlns:a16="http://schemas.microsoft.com/office/drawing/2014/main" id="{E52BFA2B-59D4-4426-9AA5-10F32F9310A6}"/>
              </a:ext>
            </a:extLst>
          </p:cNvPr>
          <p:cNvSpPr>
            <a:spLocks noGrp="1"/>
          </p:cNvSpPr>
          <p:nvPr/>
        </p:nvSpPr>
        <p:spPr>
          <a:xfrm>
            <a:off x="8001000" y="30480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bl-Retry">
            <a:extLst>
              <a:ext uri="{FF2B5EF4-FFF2-40B4-BE49-F238E27FC236}">
                <a16:creationId xmlns:a16="http://schemas.microsoft.com/office/drawing/2014/main" id="{7ABD4741-E20F-4BA4-8541-5871D57CFE84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Retry</a:t>
            </a:r>
          </a:p>
        </p:txBody>
      </p:sp>
      <p:sp>
        <p:nvSpPr>
          <p:cNvPr id="12" name="bb-Retry">
            <a:extLst>
              <a:ext uri="{FF2B5EF4-FFF2-40B4-BE49-F238E27FC236}">
                <a16:creationId xmlns:a16="http://schemas.microsoft.com/office/drawing/2014/main" id="{F6DAD9C5-11A3-4D1C-88F9-504BA6E93A0C}"/>
              </a:ext>
            </a:extLst>
          </p:cNvPr>
          <p:cNvSpPr>
            <a:spLocks noGrp="1"/>
          </p:cNvSpPr>
          <p:nvPr/>
        </p:nvSpPr>
        <p:spPr>
          <a:xfrm>
            <a:off x="8248650" y="3305175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Weak retrieval triggers a second search.</a:t>
            </a:r>
          </a:p>
        </p:txBody>
      </p:sp>
      <p:sp>
        <p:nvSpPr>
          <p:cNvPr id="13" name="b-Rewrite">
            <a:extLst>
              <a:ext uri="{FF2B5EF4-FFF2-40B4-BE49-F238E27FC236}">
                <a16:creationId xmlns:a16="http://schemas.microsoft.com/office/drawing/2014/main" id="{080C7480-FAAB-46DD-8CE7-56EDD4F85F45}"/>
              </a:ext>
            </a:extLst>
          </p:cNvPr>
          <p:cNvSpPr>
            <a:spLocks noGrp="1"/>
          </p:cNvSpPr>
          <p:nvPr/>
        </p:nvSpPr>
        <p:spPr>
          <a:xfrm>
            <a:off x="8001000" y="3743325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bl-Rewrite">
            <a:extLst>
              <a:ext uri="{FF2B5EF4-FFF2-40B4-BE49-F238E27FC236}">
                <a16:creationId xmlns:a16="http://schemas.microsoft.com/office/drawing/2014/main" id="{46FD94C7-3FED-4B45-A915-28E80AD62246}"/>
              </a:ext>
            </a:extLst>
          </p:cNvPr>
          <p:cNvSpPr>
            <a:spLocks noGrp="1"/>
          </p:cNvSpPr>
          <p:nvPr/>
        </p:nvSpPr>
        <p:spPr>
          <a:xfrm>
            <a:off x="8248650" y="3743325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Rewrite</a:t>
            </a:r>
          </a:p>
        </p:txBody>
      </p:sp>
      <p:sp>
        <p:nvSpPr>
          <p:cNvPr id="15" name="bb-Rewrite">
            <a:extLst>
              <a:ext uri="{FF2B5EF4-FFF2-40B4-BE49-F238E27FC236}">
                <a16:creationId xmlns:a16="http://schemas.microsoft.com/office/drawing/2014/main" id="{A978F13A-575D-4FD2-9381-D655B4CE61DA}"/>
              </a:ext>
            </a:extLst>
          </p:cNvPr>
          <p:cNvSpPr>
            <a:spLocks noGrp="1"/>
          </p:cNvSpPr>
          <p:nvPr/>
        </p:nvSpPr>
        <p:spPr>
          <a:xfrm>
            <a:off x="8248650" y="400050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The retry query becomes more specific.</a:t>
            </a:r>
          </a:p>
        </p:txBody>
      </p:sp>
      <p:sp>
        <p:nvSpPr>
          <p:cNvPr id="16" name="b-Citations">
            <a:extLst>
              <a:ext uri="{FF2B5EF4-FFF2-40B4-BE49-F238E27FC236}">
                <a16:creationId xmlns:a16="http://schemas.microsoft.com/office/drawing/2014/main" id="{94716346-3D1F-43A1-860B-73EFFAFD8F42}"/>
              </a:ext>
            </a:extLst>
          </p:cNvPr>
          <p:cNvSpPr>
            <a:spLocks noGrp="1"/>
          </p:cNvSpPr>
          <p:nvPr/>
        </p:nvSpPr>
        <p:spPr>
          <a:xfrm>
            <a:off x="8001000" y="44386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7" name="bl-Citations">
            <a:extLst>
              <a:ext uri="{FF2B5EF4-FFF2-40B4-BE49-F238E27FC236}">
                <a16:creationId xmlns:a16="http://schemas.microsoft.com/office/drawing/2014/main" id="{49433936-6F8B-4205-AFA6-3520668E0F72}"/>
              </a:ext>
            </a:extLst>
          </p:cNvPr>
          <p:cNvSpPr>
            <a:spLocks noGrp="1"/>
          </p:cNvSpPr>
          <p:nvPr/>
        </p:nvSpPr>
        <p:spPr>
          <a:xfrm>
            <a:off x="8248650" y="4438650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Citations</a:t>
            </a:r>
          </a:p>
        </p:txBody>
      </p:sp>
      <p:sp>
        <p:nvSpPr>
          <p:cNvPr id="18" name="bb-Citations">
            <a:extLst>
              <a:ext uri="{FF2B5EF4-FFF2-40B4-BE49-F238E27FC236}">
                <a16:creationId xmlns:a16="http://schemas.microsoft.com/office/drawing/2014/main" id="{C1C78F36-D706-49B7-8093-85296DC96359}"/>
              </a:ext>
            </a:extLst>
          </p:cNvPr>
          <p:cNvSpPr>
            <a:spLocks noGrp="1"/>
          </p:cNvSpPr>
          <p:nvPr/>
        </p:nvSpPr>
        <p:spPr>
          <a:xfrm>
            <a:off x="8248650" y="4695825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Uncited answers are blocked; cited ones pass.</a:t>
            </a:r>
          </a:p>
        </p:txBody>
      </p:sp>
    </p:spTree>
    <p:extLst>
      <p:ext uri="{BB962C8B-B14F-4D97-AF65-F5344CB8AC3E}">
        <p14:creationId xmlns:p14="http://schemas.microsoft.com/office/powerpoint/2010/main" val="838198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D9B48522-6083-4EAE-80E4-83879CA9830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DEPLOYMENT MODEL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F1DC93-9AED-48E1-8279-D9A444578AE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Docker Compose turns a multi-service AI application into a reproducible local environment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BCA78DB-414E-418E-94F4-5018742EA3B3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backend depends on infrastructure services, while Streamlit supplies the research workspace.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67A6910-1E93-483A-B97D-D3E86C446B5D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1523515-4DB2-492A-9AE8-C0A8EF952558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60BA6850-F6E2-4E52-945E-4AD227438929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svc-FastAPI">
            <a:extLst>
              <a:ext uri="{FF2B5EF4-FFF2-40B4-BE49-F238E27FC236}">
                <a16:creationId xmlns:a16="http://schemas.microsoft.com/office/drawing/2014/main" id="{60AAF9CD-3C81-40D7-983A-4CF6578511E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428875" cy="1571625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8" name="svcH-FastAPI">
            <a:extLst>
              <a:ext uri="{FF2B5EF4-FFF2-40B4-BE49-F238E27FC236}">
                <a16:creationId xmlns:a16="http://schemas.microsoft.com/office/drawing/2014/main" id="{793E2161-2FE9-43BC-BB76-B5D05C0B9A72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13F"/>
                </a:solidFill>
              </a:defRPr>
            </a:pPr>
            <a:r>
              <a:rPr sz="1800" b="1">
                <a:solidFill>
                  <a:srgbClr val="10213F"/>
                </a:solidFill>
              </a:rPr>
              <a:t>FastAPI</a:t>
            </a:r>
          </a:p>
        </p:txBody>
      </p:sp>
      <p:sp>
        <p:nvSpPr>
          <p:cNvPr id="9" name="svcB-FastAPI">
            <a:extLst>
              <a:ext uri="{FF2B5EF4-FFF2-40B4-BE49-F238E27FC236}">
                <a16:creationId xmlns:a16="http://schemas.microsoft.com/office/drawing/2014/main" id="{728066D0-187C-41DE-9EDB-A31365B92228}"/>
              </a:ext>
            </a:extLst>
          </p:cNvPr>
          <p:cNvSpPr>
            <a:spLocks noGrp="1"/>
          </p:cNvSpPr>
          <p:nvPr/>
        </p:nvSpPr>
        <p:spPr>
          <a:xfrm>
            <a:off x="914400" y="3171825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API / agent workflow</a:t>
            </a:r>
          </a:p>
        </p:txBody>
      </p:sp>
      <p:sp>
        <p:nvSpPr>
          <p:cNvPr id="10" name="svc-PostgreSQL">
            <a:extLst>
              <a:ext uri="{FF2B5EF4-FFF2-40B4-BE49-F238E27FC236}">
                <a16:creationId xmlns:a16="http://schemas.microsoft.com/office/drawing/2014/main" id="{4C2B50F9-5A29-442A-9C9B-DE2A766474DB}"/>
              </a:ext>
            </a:extLst>
          </p:cNvPr>
          <p:cNvSpPr>
            <a:spLocks noGrp="1"/>
          </p:cNvSpPr>
          <p:nvPr/>
        </p:nvSpPr>
        <p:spPr>
          <a:xfrm>
            <a:off x="3381375" y="2343150"/>
            <a:ext cx="2428875" cy="1571625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11" name="svcH-PostgreSQL">
            <a:extLst>
              <a:ext uri="{FF2B5EF4-FFF2-40B4-BE49-F238E27FC236}">
                <a16:creationId xmlns:a16="http://schemas.microsoft.com/office/drawing/2014/main" id="{2A78A205-56BF-4E4F-A2D1-732C60D79F7F}"/>
              </a:ext>
            </a:extLst>
          </p:cNvPr>
          <p:cNvSpPr>
            <a:spLocks noGrp="1"/>
          </p:cNvSpPr>
          <p:nvPr/>
        </p:nvSpPr>
        <p:spPr>
          <a:xfrm>
            <a:off x="3609975" y="26670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PostgreSQL</a:t>
            </a:r>
          </a:p>
        </p:txBody>
      </p:sp>
      <p:sp>
        <p:nvSpPr>
          <p:cNvPr id="12" name="svcB-PostgreSQL">
            <a:extLst>
              <a:ext uri="{FF2B5EF4-FFF2-40B4-BE49-F238E27FC236}">
                <a16:creationId xmlns:a16="http://schemas.microsoft.com/office/drawing/2014/main" id="{7ABE0561-4C44-43C4-9FEE-B994A1795727}"/>
              </a:ext>
            </a:extLst>
          </p:cNvPr>
          <p:cNvSpPr>
            <a:spLocks noGrp="1"/>
          </p:cNvSpPr>
          <p:nvPr/>
        </p:nvSpPr>
        <p:spPr>
          <a:xfrm>
            <a:off x="3609975" y="3171825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Users + metadata</a:t>
            </a:r>
          </a:p>
        </p:txBody>
      </p:sp>
      <p:sp>
        <p:nvSpPr>
          <p:cNvPr id="13" name="svc-MinIO">
            <a:extLst>
              <a:ext uri="{FF2B5EF4-FFF2-40B4-BE49-F238E27FC236}">
                <a16:creationId xmlns:a16="http://schemas.microsoft.com/office/drawing/2014/main" id="{31C5D5E8-A2B5-46C3-99E8-CB435F744797}"/>
              </a:ext>
            </a:extLst>
          </p:cNvPr>
          <p:cNvSpPr>
            <a:spLocks noGrp="1"/>
          </p:cNvSpPr>
          <p:nvPr/>
        </p:nvSpPr>
        <p:spPr>
          <a:xfrm>
            <a:off x="6076950" y="2343150"/>
            <a:ext cx="2428875" cy="1571625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14" name="svcH-MinIO">
            <a:extLst>
              <a:ext uri="{FF2B5EF4-FFF2-40B4-BE49-F238E27FC236}">
                <a16:creationId xmlns:a16="http://schemas.microsoft.com/office/drawing/2014/main" id="{E45CB58F-1A57-47C9-A957-7D5897E29FC9}"/>
              </a:ext>
            </a:extLst>
          </p:cNvPr>
          <p:cNvSpPr>
            <a:spLocks noGrp="1"/>
          </p:cNvSpPr>
          <p:nvPr/>
        </p:nvSpPr>
        <p:spPr>
          <a:xfrm>
            <a:off x="6305550" y="26670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rPr sz="1800" b="1">
                <a:solidFill>
                  <a:srgbClr val="0E7490"/>
                </a:solidFill>
              </a:rPr>
              <a:t>MinIO</a:t>
            </a:r>
          </a:p>
        </p:txBody>
      </p:sp>
      <p:sp>
        <p:nvSpPr>
          <p:cNvPr id="15" name="svcB-MinIO">
            <a:extLst>
              <a:ext uri="{FF2B5EF4-FFF2-40B4-BE49-F238E27FC236}">
                <a16:creationId xmlns:a16="http://schemas.microsoft.com/office/drawing/2014/main" id="{174D49F1-2946-44F5-884C-5855E9E98C6F}"/>
              </a:ext>
            </a:extLst>
          </p:cNvPr>
          <p:cNvSpPr>
            <a:spLocks noGrp="1"/>
          </p:cNvSpPr>
          <p:nvPr/>
        </p:nvSpPr>
        <p:spPr>
          <a:xfrm>
            <a:off x="6305550" y="3171825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Uploaded files</a:t>
            </a:r>
          </a:p>
        </p:txBody>
      </p:sp>
      <p:sp>
        <p:nvSpPr>
          <p:cNvPr id="16" name="svc-Qdrant">
            <a:extLst>
              <a:ext uri="{FF2B5EF4-FFF2-40B4-BE49-F238E27FC236}">
                <a16:creationId xmlns:a16="http://schemas.microsoft.com/office/drawing/2014/main" id="{AB43CBDC-437C-4824-A100-E7C4EC04183B}"/>
              </a:ext>
            </a:extLst>
          </p:cNvPr>
          <p:cNvSpPr>
            <a:spLocks noGrp="1"/>
          </p:cNvSpPr>
          <p:nvPr/>
        </p:nvSpPr>
        <p:spPr>
          <a:xfrm>
            <a:off x="8772525" y="2343150"/>
            <a:ext cx="2428875" cy="1571625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17" name="svcH-Qdrant">
            <a:extLst>
              <a:ext uri="{FF2B5EF4-FFF2-40B4-BE49-F238E27FC236}">
                <a16:creationId xmlns:a16="http://schemas.microsoft.com/office/drawing/2014/main" id="{D8EEC87D-B03E-449D-AA4A-819364BD296E}"/>
              </a:ext>
            </a:extLst>
          </p:cNvPr>
          <p:cNvSpPr>
            <a:spLocks noGrp="1"/>
          </p:cNvSpPr>
          <p:nvPr/>
        </p:nvSpPr>
        <p:spPr>
          <a:xfrm>
            <a:off x="9001125" y="26670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6DCBF4"/>
                </a:solidFill>
              </a:defRPr>
            </a:pPr>
            <a:r>
              <a:rPr sz="1800" b="1">
                <a:solidFill>
                  <a:srgbClr val="6DCBF4"/>
                </a:solidFill>
              </a:rPr>
              <a:t>Qdrant</a:t>
            </a:r>
          </a:p>
        </p:txBody>
      </p:sp>
      <p:sp>
        <p:nvSpPr>
          <p:cNvPr id="18" name="svcB-Qdrant">
            <a:extLst>
              <a:ext uri="{FF2B5EF4-FFF2-40B4-BE49-F238E27FC236}">
                <a16:creationId xmlns:a16="http://schemas.microsoft.com/office/drawing/2014/main" id="{40E9CA19-5D20-4E32-8CEF-76BCCDAD86CB}"/>
              </a:ext>
            </a:extLst>
          </p:cNvPr>
          <p:cNvSpPr>
            <a:spLocks noGrp="1"/>
          </p:cNvSpPr>
          <p:nvPr/>
        </p:nvSpPr>
        <p:spPr>
          <a:xfrm>
            <a:off x="9001125" y="3171825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Vector search</a:t>
            </a:r>
          </a:p>
        </p:txBody>
      </p:sp>
      <p:sp>
        <p:nvSpPr>
          <p:cNvPr id="19" name="deploy-command">
            <a:extLst>
              <a:ext uri="{FF2B5EF4-FFF2-40B4-BE49-F238E27FC236}">
                <a16:creationId xmlns:a16="http://schemas.microsoft.com/office/drawing/2014/main" id="{32100C59-7052-4C61-8F7F-85A20A52F56A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213F"/>
                </a:solidFill>
              </a:defRPr>
            </a:pPr>
            <a:r>
              <a:rPr sz="1650" b="1">
                <a:solidFill>
                  <a:srgbClr val="10213F"/>
                </a:solidFill>
              </a:rPr>
              <a:t>docker compose up -d --build</a:t>
            </a:r>
          </a:p>
        </p:txBody>
      </p:sp>
      <p:sp>
        <p:nvSpPr>
          <p:cNvPr id="20" name="deploy-copy">
            <a:extLst>
              <a:ext uri="{FF2B5EF4-FFF2-40B4-BE49-F238E27FC236}">
                <a16:creationId xmlns:a16="http://schemas.microsoft.com/office/drawing/2014/main" id="{D228931A-4913-4310-837B-DEA5F681F60E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Then open FastAPI docs on port 8000 and the Streamlit workspace on port 8501.</a:t>
            </a:r>
          </a:p>
        </p:txBody>
      </p:sp>
    </p:spTree>
    <p:extLst>
      <p:ext uri="{BB962C8B-B14F-4D97-AF65-F5344CB8AC3E}">
        <p14:creationId xmlns:p14="http://schemas.microsoft.com/office/powerpoint/2010/main" val="112534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">
            <a:extLst>
              <a:ext uri="{FF2B5EF4-FFF2-40B4-BE49-F238E27FC236}">
                <a16:creationId xmlns:a16="http://schemas.microsoft.com/office/drawing/2014/main" id="{0D970C56-B447-41C6-9A91-9C86CD6E850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0E7490"/>
                </a:solidFill>
              </a:defRPr>
            </a:pPr>
            <a:r>
              <a:rPr sz="900" b="1">
                <a:solidFill>
                  <a:srgbClr val="0E7490"/>
                </a:solidFill>
              </a:rPr>
              <a:t>DELIVERY STATUS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30664FE-3D20-47A6-B122-7E5E2DBBA1D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13F"/>
                </a:solidFill>
              </a:defRPr>
            </a:pPr>
            <a:r>
              <a:rPr sz="2550" b="1">
                <a:solidFill>
                  <a:srgbClr val="10213F"/>
                </a:solidFill>
              </a:rPr>
              <a:t>What is implemented now—and what comes next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F32FE9E-76CE-4DA0-8B18-C043E2199D3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project already proves controlled routing and guarded retrieval; multi-modal reasoning is the next capability layer.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AF04DC5-4B0A-4C7E-B340-F4193CF6C7D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EF10662-1953-4144-B41E-1B67E95F71AD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6" name="slide-num">
            <a:extLst>
              <a:ext uri="{FF2B5EF4-FFF2-40B4-BE49-F238E27FC236}">
                <a16:creationId xmlns:a16="http://schemas.microsoft.com/office/drawing/2014/main" id="{F59822E6-C7F3-4D65-9939-0290AA38F2CC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implemented">
            <a:extLst>
              <a:ext uri="{FF2B5EF4-FFF2-40B4-BE49-F238E27FC236}">
                <a16:creationId xmlns:a16="http://schemas.microsoft.com/office/drawing/2014/main" id="{7ED790B3-1A98-41FC-81E6-9825712F169E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8" name="imp-h">
            <a:extLst>
              <a:ext uri="{FF2B5EF4-FFF2-40B4-BE49-F238E27FC236}">
                <a16:creationId xmlns:a16="http://schemas.microsoft.com/office/drawing/2014/main" id="{B5A5917C-2BA2-466C-A694-AD8137DB5EE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Implemented</a:t>
            </a:r>
          </a:p>
        </p:txBody>
      </p:sp>
      <p:sp>
        <p:nvSpPr>
          <p:cNvPr id="9" name="b-Agents">
            <a:extLst>
              <a:ext uri="{FF2B5EF4-FFF2-40B4-BE49-F238E27FC236}">
                <a16:creationId xmlns:a16="http://schemas.microsoft.com/office/drawing/2014/main" id="{25E29489-7D1E-4943-AC1B-894EFB7AB27B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bl-Agents">
            <a:extLst>
              <a:ext uri="{FF2B5EF4-FFF2-40B4-BE49-F238E27FC236}">
                <a16:creationId xmlns:a16="http://schemas.microsoft.com/office/drawing/2014/main" id="{1CBDA511-29A1-40AD-9F7E-B345A3A9CF40}"/>
              </a:ext>
            </a:extLst>
          </p:cNvPr>
          <p:cNvSpPr>
            <a:spLocks noGrp="1"/>
          </p:cNvSpPr>
          <p:nvPr/>
        </p:nvSpPr>
        <p:spPr>
          <a:xfrm>
            <a:off x="1276350" y="300990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Agents</a:t>
            </a:r>
          </a:p>
        </p:txBody>
      </p:sp>
      <p:sp>
        <p:nvSpPr>
          <p:cNvPr id="11" name="bb-Agents">
            <a:extLst>
              <a:ext uri="{FF2B5EF4-FFF2-40B4-BE49-F238E27FC236}">
                <a16:creationId xmlns:a16="http://schemas.microsoft.com/office/drawing/2014/main" id="{395E0D78-75A2-4F4D-90C2-AD46CEFAEA90}"/>
              </a:ext>
            </a:extLst>
          </p:cNvPr>
          <p:cNvSpPr>
            <a:spLocks noGrp="1"/>
          </p:cNvSpPr>
          <p:nvPr/>
        </p:nvSpPr>
        <p:spPr>
          <a:xfrm>
            <a:off x="1276350" y="3267075"/>
            <a:ext cx="3467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Document and SQL specialist routes.</a:t>
            </a:r>
          </a:p>
        </p:txBody>
      </p:sp>
      <p:sp>
        <p:nvSpPr>
          <p:cNvPr id="12" name="b-Safety">
            <a:extLst>
              <a:ext uri="{FF2B5EF4-FFF2-40B4-BE49-F238E27FC236}">
                <a16:creationId xmlns:a16="http://schemas.microsoft.com/office/drawing/2014/main" id="{88D56E0F-8A26-440A-ACA8-CC45D2445A17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3" name="bl-Safety">
            <a:extLst>
              <a:ext uri="{FF2B5EF4-FFF2-40B4-BE49-F238E27FC236}">
                <a16:creationId xmlns:a16="http://schemas.microsoft.com/office/drawing/2014/main" id="{483743D3-5CC5-4829-A237-8623FE902668}"/>
              </a:ext>
            </a:extLst>
          </p:cNvPr>
          <p:cNvSpPr>
            <a:spLocks noGrp="1"/>
          </p:cNvSpPr>
          <p:nvPr/>
        </p:nvSpPr>
        <p:spPr>
          <a:xfrm>
            <a:off x="1276350" y="371475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Safety</a:t>
            </a:r>
          </a:p>
        </p:txBody>
      </p:sp>
      <p:sp>
        <p:nvSpPr>
          <p:cNvPr id="14" name="bb-Safety">
            <a:extLst>
              <a:ext uri="{FF2B5EF4-FFF2-40B4-BE49-F238E27FC236}">
                <a16:creationId xmlns:a16="http://schemas.microsoft.com/office/drawing/2014/main" id="{925623DB-C88D-4E3B-A059-6A576E43A51E}"/>
              </a:ext>
            </a:extLst>
          </p:cNvPr>
          <p:cNvSpPr>
            <a:spLocks noGrp="1"/>
          </p:cNvSpPr>
          <p:nvPr/>
        </p:nvSpPr>
        <p:spPr>
          <a:xfrm>
            <a:off x="1276350" y="3971925"/>
            <a:ext cx="3467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Self-RAG retry, citations, and refusal.</a:t>
            </a:r>
          </a:p>
        </p:txBody>
      </p:sp>
      <p:sp>
        <p:nvSpPr>
          <p:cNvPr id="15" name="b-Audit">
            <a:extLst>
              <a:ext uri="{FF2B5EF4-FFF2-40B4-BE49-F238E27FC236}">
                <a16:creationId xmlns:a16="http://schemas.microsoft.com/office/drawing/2014/main" id="{3CCE3320-42D0-438F-AD3C-340B29E2DD64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bl-Audit">
            <a:extLst>
              <a:ext uri="{FF2B5EF4-FFF2-40B4-BE49-F238E27FC236}">
                <a16:creationId xmlns:a16="http://schemas.microsoft.com/office/drawing/2014/main" id="{1E64AEE1-CBFC-459A-973B-794F6643E1E4}"/>
              </a:ext>
            </a:extLst>
          </p:cNvPr>
          <p:cNvSpPr>
            <a:spLocks noGrp="1"/>
          </p:cNvSpPr>
          <p:nvPr/>
        </p:nvSpPr>
        <p:spPr>
          <a:xfrm>
            <a:off x="1276350" y="441960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Audit</a:t>
            </a:r>
          </a:p>
        </p:txBody>
      </p:sp>
      <p:sp>
        <p:nvSpPr>
          <p:cNvPr id="17" name="bb-Audit">
            <a:extLst>
              <a:ext uri="{FF2B5EF4-FFF2-40B4-BE49-F238E27FC236}">
                <a16:creationId xmlns:a16="http://schemas.microsoft.com/office/drawing/2014/main" id="{69114B1B-6B53-461D-946A-E64C4A179BC9}"/>
              </a:ext>
            </a:extLst>
          </p:cNvPr>
          <p:cNvSpPr>
            <a:spLocks noGrp="1"/>
          </p:cNvSpPr>
          <p:nvPr/>
        </p:nvSpPr>
        <p:spPr>
          <a:xfrm>
            <a:off x="1276350" y="4676775"/>
            <a:ext cx="3467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Routing and guardrail unit tests.</a:t>
            </a:r>
          </a:p>
        </p:txBody>
      </p:sp>
      <p:sp>
        <p:nvSpPr>
          <p:cNvPr id="18" name="roadmap">
            <a:extLst>
              <a:ext uri="{FF2B5EF4-FFF2-40B4-BE49-F238E27FC236}">
                <a16:creationId xmlns:a16="http://schemas.microsoft.com/office/drawing/2014/main" id="{811EEB4F-E2DF-4341-889C-C5F417712754}"/>
              </a:ext>
            </a:extLst>
          </p:cNvPr>
          <p:cNvSpPr>
            <a:spLocks noGrp="1"/>
          </p:cNvSpPr>
          <p:nvPr/>
        </p:nvSpPr>
        <p:spPr>
          <a:xfrm>
            <a:off x="6553200" y="20764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road-h">
            <a:extLst>
              <a:ext uri="{FF2B5EF4-FFF2-40B4-BE49-F238E27FC236}">
                <a16:creationId xmlns:a16="http://schemas.microsoft.com/office/drawing/2014/main" id="{C57C3315-3B3B-40BA-A982-E64939A95F83}"/>
              </a:ext>
            </a:extLst>
          </p:cNvPr>
          <p:cNvSpPr>
            <a:spLocks noGrp="1"/>
          </p:cNvSpPr>
          <p:nvPr/>
        </p:nvSpPr>
        <p:spPr>
          <a:xfrm>
            <a:off x="6896100" y="24003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Next milestones</a:t>
            </a:r>
          </a:p>
        </p:txBody>
      </p:sp>
      <p:sp>
        <p:nvSpPr>
          <p:cNvPr id="20" name="b-Vision">
            <a:extLst>
              <a:ext uri="{FF2B5EF4-FFF2-40B4-BE49-F238E27FC236}">
                <a16:creationId xmlns:a16="http://schemas.microsoft.com/office/drawing/2014/main" id="{B8C83F93-3A0F-46E6-ADBC-5F99E9990E17}"/>
              </a:ext>
            </a:extLst>
          </p:cNvPr>
          <p:cNvSpPr>
            <a:spLocks noGrp="1"/>
          </p:cNvSpPr>
          <p:nvPr/>
        </p:nvSpPr>
        <p:spPr>
          <a:xfrm>
            <a:off x="6896100" y="30099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1" name="bl-Vision">
            <a:extLst>
              <a:ext uri="{FF2B5EF4-FFF2-40B4-BE49-F238E27FC236}">
                <a16:creationId xmlns:a16="http://schemas.microsoft.com/office/drawing/2014/main" id="{7508921B-5565-4F41-AC8E-32F815974422}"/>
              </a:ext>
            </a:extLst>
          </p:cNvPr>
          <p:cNvSpPr>
            <a:spLocks noGrp="1"/>
          </p:cNvSpPr>
          <p:nvPr/>
        </p:nvSpPr>
        <p:spPr>
          <a:xfrm>
            <a:off x="7143750" y="300990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Vision</a:t>
            </a:r>
          </a:p>
        </p:txBody>
      </p:sp>
      <p:sp>
        <p:nvSpPr>
          <p:cNvPr id="22" name="bb-Vision">
            <a:extLst>
              <a:ext uri="{FF2B5EF4-FFF2-40B4-BE49-F238E27FC236}">
                <a16:creationId xmlns:a16="http://schemas.microsoft.com/office/drawing/2014/main" id="{9ECBB8F7-61CC-49CF-BDEE-964510A5C84D}"/>
              </a:ext>
            </a:extLst>
          </p:cNvPr>
          <p:cNvSpPr>
            <a:spLocks noGrp="1"/>
          </p:cNvSpPr>
          <p:nvPr/>
        </p:nvSpPr>
        <p:spPr>
          <a:xfrm>
            <a:off x="7143750" y="3267075"/>
            <a:ext cx="3467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Dedicated VLM route for charts and figures.</a:t>
            </a:r>
          </a:p>
        </p:txBody>
      </p:sp>
      <p:sp>
        <p:nvSpPr>
          <p:cNvPr id="23" name="b-Embeddings">
            <a:extLst>
              <a:ext uri="{FF2B5EF4-FFF2-40B4-BE49-F238E27FC236}">
                <a16:creationId xmlns:a16="http://schemas.microsoft.com/office/drawing/2014/main" id="{286F1127-C09D-433F-ACD9-17188838D13B}"/>
              </a:ext>
            </a:extLst>
          </p:cNvPr>
          <p:cNvSpPr>
            <a:spLocks noGrp="1"/>
          </p:cNvSpPr>
          <p:nvPr/>
        </p:nvSpPr>
        <p:spPr>
          <a:xfrm>
            <a:off x="6896100" y="371475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bl-Embeddings">
            <a:extLst>
              <a:ext uri="{FF2B5EF4-FFF2-40B4-BE49-F238E27FC236}">
                <a16:creationId xmlns:a16="http://schemas.microsoft.com/office/drawing/2014/main" id="{ECB38178-4BAE-400D-A9A5-978401176FA4}"/>
              </a:ext>
            </a:extLst>
          </p:cNvPr>
          <p:cNvSpPr>
            <a:spLocks noGrp="1"/>
          </p:cNvSpPr>
          <p:nvPr/>
        </p:nvSpPr>
        <p:spPr>
          <a:xfrm>
            <a:off x="7143750" y="371475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Embeddings</a:t>
            </a:r>
          </a:p>
        </p:txBody>
      </p:sp>
      <p:sp>
        <p:nvSpPr>
          <p:cNvPr id="25" name="bb-Embeddings">
            <a:extLst>
              <a:ext uri="{FF2B5EF4-FFF2-40B4-BE49-F238E27FC236}">
                <a16:creationId xmlns:a16="http://schemas.microsoft.com/office/drawing/2014/main" id="{EBB9662D-5E2F-4F6E-BFCF-7ED34ECEFA8D}"/>
              </a:ext>
            </a:extLst>
          </p:cNvPr>
          <p:cNvSpPr>
            <a:spLocks noGrp="1"/>
          </p:cNvSpPr>
          <p:nvPr/>
        </p:nvSpPr>
        <p:spPr>
          <a:xfrm>
            <a:off x="7143750" y="3971925"/>
            <a:ext cx="3467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Image embeddings for true multi-modal retrieval.</a:t>
            </a:r>
          </a:p>
        </p:txBody>
      </p:sp>
      <p:sp>
        <p:nvSpPr>
          <p:cNvPr id="26" name="b-Observe">
            <a:extLst>
              <a:ext uri="{FF2B5EF4-FFF2-40B4-BE49-F238E27FC236}">
                <a16:creationId xmlns:a16="http://schemas.microsoft.com/office/drawing/2014/main" id="{014D7B5F-805C-4D7F-BED9-B3B590717AD6}"/>
              </a:ext>
            </a:extLst>
          </p:cNvPr>
          <p:cNvSpPr>
            <a:spLocks noGrp="1"/>
          </p:cNvSpPr>
          <p:nvPr/>
        </p:nvSpPr>
        <p:spPr>
          <a:xfrm>
            <a:off x="6896100" y="4419600"/>
            <a:ext cx="19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7" name="bl-Observe">
            <a:extLst>
              <a:ext uri="{FF2B5EF4-FFF2-40B4-BE49-F238E27FC236}">
                <a16:creationId xmlns:a16="http://schemas.microsoft.com/office/drawing/2014/main" id="{5B86EBF1-C701-4966-B1F9-C978B332AA49}"/>
              </a:ext>
            </a:extLst>
          </p:cNvPr>
          <p:cNvSpPr>
            <a:spLocks noGrp="1"/>
          </p:cNvSpPr>
          <p:nvPr/>
        </p:nvSpPr>
        <p:spPr>
          <a:xfrm>
            <a:off x="7143750" y="441960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13F"/>
                </a:solidFill>
              </a:defRPr>
            </a:pPr>
            <a:r>
              <a:rPr sz="1350" b="1">
                <a:solidFill>
                  <a:srgbClr val="10213F"/>
                </a:solidFill>
              </a:rPr>
              <a:t>Observe</a:t>
            </a:r>
          </a:p>
        </p:txBody>
      </p:sp>
      <p:sp>
        <p:nvSpPr>
          <p:cNvPr id="28" name="bb-Observe">
            <a:extLst>
              <a:ext uri="{FF2B5EF4-FFF2-40B4-BE49-F238E27FC236}">
                <a16:creationId xmlns:a16="http://schemas.microsoft.com/office/drawing/2014/main" id="{F9981493-F3A2-475D-A04C-CD64A9B89685}"/>
              </a:ext>
            </a:extLst>
          </p:cNvPr>
          <p:cNvSpPr>
            <a:spLocks noGrp="1"/>
          </p:cNvSpPr>
          <p:nvPr/>
        </p:nvSpPr>
        <p:spPr>
          <a:xfrm>
            <a:off x="7143750" y="4676775"/>
            <a:ext cx="3467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Langfuse + NeMo Guardrails evaluation layer.</a:t>
            </a:r>
          </a:p>
        </p:txBody>
      </p:sp>
    </p:spTree>
    <p:extLst>
      <p:ext uri="{BB962C8B-B14F-4D97-AF65-F5344CB8AC3E}">
        <p14:creationId xmlns:p14="http://schemas.microsoft.com/office/powerpoint/2010/main" val="1718776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se-kicker">
            <a:extLst>
              <a:ext uri="{FF2B5EF4-FFF2-40B4-BE49-F238E27FC236}">
                <a16:creationId xmlns:a16="http://schemas.microsoft.com/office/drawing/2014/main" id="{8B777B02-CB16-4AD4-8D3F-F70C0D71E44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0E7490"/>
                </a:solidFill>
              </a:defRPr>
            </a:pPr>
            <a:r>
              <a:rPr sz="975" b="1">
                <a:solidFill>
                  <a:srgbClr val="0E7490"/>
                </a:solidFill>
              </a:rPr>
              <a:t>PROJECT CONCLUSION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8E61E293-9CCE-4977-B9BF-501F83F3DC0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75" b="1">
                <a:solidFill>
                  <a:srgbClr val="10213F"/>
                </a:solidFill>
              </a:defRPr>
            </a:pPr>
            <a:r>
              <a:rPr sz="3675" b="1">
                <a:solidFill>
                  <a:srgbClr val="10213F"/>
                </a:solidFill>
              </a:rPr>
              <a:t>OmniBrain makes</a:t>
            </a:r>
          </a:p>
          <a:p>
            <a:pPr algn="l">
              <a:defRPr sz="3675" b="1">
                <a:solidFill>
                  <a:srgbClr val="10213F"/>
                </a:solidFill>
              </a:defRPr>
            </a:pPr>
            <a:r>
              <a:rPr sz="3675" b="1">
                <a:solidFill>
                  <a:srgbClr val="10213F"/>
                </a:solidFill>
              </a:rPr>
              <a:t>research routing explicit,</a:t>
            </a:r>
          </a:p>
          <a:p>
            <a:pPr algn="l">
              <a:defRPr sz="3675" b="1">
                <a:solidFill>
                  <a:srgbClr val="10213F"/>
                </a:solidFill>
              </a:defRPr>
            </a:pPr>
            <a:r>
              <a:rPr sz="3675" b="1">
                <a:solidFill>
                  <a:srgbClr val="10213F"/>
                </a:solidFill>
              </a:rPr>
              <a:t>evidence-grounded, and testable.</a:t>
            </a:r>
          </a:p>
        </p:txBody>
      </p:sp>
      <p:sp>
        <p:nvSpPr>
          <p:cNvPr id="3" name="close-copy">
            <a:extLst>
              <a:ext uri="{FF2B5EF4-FFF2-40B4-BE49-F238E27FC236}">
                <a16:creationId xmlns:a16="http://schemas.microsoft.com/office/drawing/2014/main" id="{4F1AE564-A347-412C-B5DD-8369D88E4AA2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6572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The portfolio value is controlled AI behavior:</a:t>
            </a:r>
          </a:p>
          <a:p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choose the right data source, validate evidence, retry weak retrieval, and refuse unsupported claims.</a:t>
            </a:r>
          </a:p>
        </p:txBody>
      </p:sp>
      <p:sp>
        <p:nvSpPr>
          <p:cNvPr id="4" name="end-block">
            <a:extLst>
              <a:ext uri="{FF2B5EF4-FFF2-40B4-BE49-F238E27FC236}">
                <a16:creationId xmlns:a16="http://schemas.microsoft.com/office/drawing/2014/main" id="{8BAAAC40-A47A-4EBE-9216-72FD3BF146BB}"/>
              </a:ext>
            </a:extLst>
          </p:cNvPr>
          <p:cNvSpPr>
            <a:spLocks noGrp="1"/>
          </p:cNvSpPr>
          <p:nvPr/>
        </p:nvSpPr>
        <p:spPr>
          <a:xfrm>
            <a:off x="8134350" y="1638300"/>
            <a:ext cx="2667000" cy="2381250"/>
          </a:xfrm>
          <a:prstGeom prst="roundRect">
            <a:avLst>
              <a:gd name="adj" fmla="val 4800"/>
            </a:avLst>
          </a:prstGeom>
          <a:solidFill>
            <a:srgbClr val="F6F9FC"/>
          </a:solidFill>
          <a:ln w="9525">
            <a:noFill/>
            <a:prstDash val="solid"/>
          </a:ln>
        </p:spPr>
      </p:sp>
      <p:sp>
        <p:nvSpPr>
          <p:cNvPr id="5" name="end1">
            <a:extLst>
              <a:ext uri="{FF2B5EF4-FFF2-40B4-BE49-F238E27FC236}">
                <a16:creationId xmlns:a16="http://schemas.microsoft.com/office/drawing/2014/main" id="{C0230795-A65A-474B-BADA-0A5A65085F10}"/>
              </a:ext>
            </a:extLst>
          </p:cNvPr>
          <p:cNvSpPr>
            <a:spLocks noGrp="1"/>
          </p:cNvSpPr>
          <p:nvPr/>
        </p:nvSpPr>
        <p:spPr>
          <a:xfrm>
            <a:off x="8448675" y="21145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0213F"/>
                </a:solidFill>
              </a:defRPr>
            </a:pPr>
            <a:r>
              <a:rPr sz="1500" b="1">
                <a:solidFill>
                  <a:srgbClr val="10213F"/>
                </a:solidFill>
              </a:rPr>
              <a:t>Document RAG</a:t>
            </a:r>
          </a:p>
        </p:txBody>
      </p:sp>
      <p:sp>
        <p:nvSpPr>
          <p:cNvPr id="6" name="end2">
            <a:extLst>
              <a:ext uri="{FF2B5EF4-FFF2-40B4-BE49-F238E27FC236}">
                <a16:creationId xmlns:a16="http://schemas.microsoft.com/office/drawing/2014/main" id="{3441F3BB-FF49-4EBF-B907-D6C38BBDF84E}"/>
              </a:ext>
            </a:extLst>
          </p:cNvPr>
          <p:cNvSpPr>
            <a:spLocks noGrp="1"/>
          </p:cNvSpPr>
          <p:nvPr/>
        </p:nvSpPr>
        <p:spPr>
          <a:xfrm>
            <a:off x="8448675" y="27241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SQL routing</a:t>
            </a:r>
          </a:p>
        </p:txBody>
      </p:sp>
      <p:sp>
        <p:nvSpPr>
          <p:cNvPr id="7" name="end3">
            <a:extLst>
              <a:ext uri="{FF2B5EF4-FFF2-40B4-BE49-F238E27FC236}">
                <a16:creationId xmlns:a16="http://schemas.microsoft.com/office/drawing/2014/main" id="{47C9328C-F275-454E-9A92-B1CEC5356806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Self-RAG guardrails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DF6B29E-9634-4BF2-A55B-DAFB26FFC012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71D17688-34AC-4C06-A8EE-7F998175A437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AXLERO SOLUTIONS | OMNIBRAIN</a:t>
            </a:r>
          </a:p>
        </p:txBody>
      </p:sp>
      <p:sp>
        <p:nvSpPr>
          <p:cNvPr id="10" name="slide-num">
            <a:extLst>
              <a:ext uri="{FF2B5EF4-FFF2-40B4-BE49-F238E27FC236}">
                <a16:creationId xmlns:a16="http://schemas.microsoft.com/office/drawing/2014/main" id="{98488714-0CC9-4718-92F9-2F771E40DBDD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81214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883</Words>
  <Application>Microsoft Office PowerPoint</Application>
  <DocSecurity>0</DocSecurity>
  <PresentationFormat>Widescreen</PresentationFormat>
  <Paragraphs>183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</cp:revision>
  <dcterms:created xsi:type="dcterms:W3CDTF">2026-08-17T08:48:56Z</dcterms:created>
  <dcterms:modified xsi:type="dcterms:W3CDTF">2026-08-17T09:11:04Z</dcterms:modified>
</cp:coreProperties>
</file>